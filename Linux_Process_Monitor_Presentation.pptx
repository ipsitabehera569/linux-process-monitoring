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a24d4bc-4880-b155-daed-1f5d0feac78e}">
          <p14:sldIdLst>
            <p14:sldId id="256"/>
            <p14:sldId id="257"/>
            <p14:sldId id="258"/>
          </p14:sldIdLst>
        </p14:section>
        <p14:section name="Development (Day 1-5)" id="{0e0966cf-9811-ae8b-552e-53d6dccaebd6}">
          <p14:sldIdLst>
            <p14:sldId id="259"/>
            <p14:sldId id="260"/>
            <p14:sldId id="261"/>
            <p14:sldId id="262"/>
            <p14:sldId id="263"/>
          </p14:sldIdLst>
        </p14:section>
        <p14:section name="Results" id="{2e06e6a0-1dc1-0c2c-9418-673bdd6341a9}">
          <p14:sldIdLst>
            <p14:sldId id="264"/>
            <p14:sldId id="265"/>
            <p14:sldId id="266"/>
          </p14:sldIdLst>
        </p14:section>
        <p14:section name="Wrap-up" id="{99ad66b0-0ae8-2b40-c7f2-a8b580c9b62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yourself: name, roll number, department, and that this is a Wipro training project completed in 5 days. State the title and say the tool is a terminal-based Linux system and process monitor written in C++17 on Ubuntu.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problem: Linux exposes system data through the kernel and /proc, but there is no simple custom tool. Objective: build a monitor step by step over 5 days — memory, CPU, processes, termination, then a continuous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the kernel exposes data through sysinfo() and /proc files; four C++ modules read and process it; the terminal UI shows the summary and the top 10 processes and takes input. The bottom strip is the main loop that repeats every 2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sysinfo() fills a struct with total and free RAM. Values are multiplied by mem_unit to get bytes, then converted to MB and GB for display.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line of /proc/stat holds cumulative CPU time in clock ticks. Total time is the sum of all ten counters; idle time is idle + iowait; active time is total minus idle. These counters are cumulative since boot.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numeric folder under /proc is a running process. From stat we take PID, name and CPU ticks; from status we take VmRSS for memory. Processes are stored in a vector and sorted with std::sort using a comparator on CPU or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kill() sends a signal to a process. SIGKILL forces termination and cannot be handled by the target. kill() returns 0 on success; on failure it returns -1 and sets errno (for example EPERM for no permission, ESRCH for no such process).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5 combines Days 1-4 into one loop: refresh data, display the top 10 CPU consumers, accept input, wait 2 seconds and repeat. The user can enter a PID to kill, press Enter to refresh immediately, or press q to quit.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output captured on Ubuntu for each day. Day 1: total RAM and unused RAM. Day 2: CPU counters. Day 3: top 10 processes sorted by CPU. Day 4: terminating a process by PID. Day 5: the continuous monitor with q to quit.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the technologies: platform and language, POSIX and system APIs, and C++ standard library components. Be ready to say where each one is used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you learned: how Linux exposes data, how to use system calls from C++, how to structure a program in stages, and how to build an interactive terminal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that the tool meets the objectives: memory, CPU, process listing, termination and continuous monitoring. Mention the future scope items as realistic next steps,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Wipro Training Project  |  Ipsita Behera  |  2341002106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Wipro Training Project  |  Ipsita Behera  |  2341002106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612648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8778240" y="3566160"/>
            <a:ext cx="5486400" cy="54864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decor circle small"/>
          <p:cNvSpPr/>
          <p:nvPr/>
        </p:nvSpPr>
        <p:spPr>
          <a:xfrm>
            <a:off x="-1097280" y="-1280160"/>
            <a:ext cx="2926080" cy="2926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kicker pill"/>
          <p:cNvSpPr/>
          <p:nvPr/>
        </p:nvSpPr>
        <p:spPr>
          <a:xfrm>
            <a:off x="731520" y="731520"/>
            <a:ext cx="2514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kicker"/>
          <p:cNvSpPr txBox="1"/>
          <p:nvPr/>
        </p:nvSpPr>
        <p:spPr>
          <a:xfrm>
            <a:off x="731520" y="731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WIPRO TRAINING PROJECT</a:t>
            </a:r>
            <a:endParaRPr lang="en-US" sz="1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1417320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Linux System &amp; Process Monitoring Tool using C++ on Ubuntu</a:t>
            </a:r>
            <a:endParaRPr lang="en-US" sz="3800" dirty="0"/>
          </a:p>
        </p:txBody>
      </p:sp>
      <p:sp>
        <p:nvSpPr>
          <p:cNvPr id="7" name="subtitle"/>
          <p:cNvSpPr txBox="1"/>
          <p:nvPr/>
        </p:nvSpPr>
        <p:spPr>
          <a:xfrm>
            <a:off x="731520" y="3611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Built in 5 days using C++17 on Ubuntu Linux</a:t>
            </a:r>
            <a:endParaRPr lang="en-US" sz="1800" dirty="0"/>
          </a:p>
        </p:txBody>
      </p:sp>
      <p:sp>
        <p:nvSpPr>
          <p:cNvPr id="8" name="terminal card"/>
          <p:cNvSpPr/>
          <p:nvPr/>
        </p:nvSpPr>
        <p:spPr>
          <a:xfrm>
            <a:off x="7223760" y="1005840"/>
            <a:ext cx="4434840" cy="3200400"/>
          </a:xfrm>
          <a:prstGeom prst="roundRect">
            <a:avLst>
              <a:gd name="adj" fmla="val 3429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rminal dot 1"/>
          <p:cNvSpPr/>
          <p:nvPr/>
        </p:nvSpPr>
        <p:spPr>
          <a:xfrm>
            <a:off x="7452360" y="118872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terminal dot 2"/>
          <p:cNvSpPr/>
          <p:nvPr/>
        </p:nvSpPr>
        <p:spPr>
          <a:xfrm>
            <a:off x="7635240" y="118872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terminal dot 3"/>
          <p:cNvSpPr/>
          <p:nvPr/>
        </p:nvSpPr>
        <p:spPr>
          <a:xfrm>
            <a:off x="7818120" y="118872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rminal text"/>
          <p:cNvSpPr txBox="1"/>
          <p:nvPr/>
        </p:nvSpPr>
        <p:spPr>
          <a:xfrm>
            <a:off x="7498080" y="16459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-std=c++17 *.cpp -o monitor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./monitor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 |  CPU  |  Top 10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 every 2 seconds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PID to terminate: _</a:t>
            </a:r>
            <a:endParaRPr lang="en-US" sz="1200" dirty="0"/>
          </a:p>
        </p:txBody>
      </p:sp>
      <p:sp>
        <p:nvSpPr>
          <p:cNvPr id="13" name="info card 1"/>
          <p:cNvSpPr/>
          <p:nvPr/>
        </p:nvSpPr>
        <p:spPr>
          <a:xfrm>
            <a:off x="731520" y="489204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14" name="info label 1"/>
          <p:cNvSpPr txBox="1"/>
          <p:nvPr/>
        </p:nvSpPr>
        <p:spPr>
          <a:xfrm>
            <a:off x="914400" y="5029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STUDENT</a:t>
            </a:r>
            <a:endParaRPr lang="en-US" sz="1000" dirty="0"/>
          </a:p>
        </p:txBody>
      </p:sp>
      <p:sp>
        <p:nvSpPr>
          <p:cNvPr id="15" name="info value 1"/>
          <p:cNvSpPr txBox="1"/>
          <p:nvPr/>
        </p:nvSpPr>
        <p:spPr>
          <a:xfrm>
            <a:off x="914400" y="53218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Ipsita Behera</a:t>
            </a:r>
            <a:endParaRPr lang="en-US" sz="1500" dirty="0"/>
          </a:p>
        </p:txBody>
      </p:sp>
      <p:sp>
        <p:nvSpPr>
          <p:cNvPr id="16" name="info card 2"/>
          <p:cNvSpPr/>
          <p:nvPr/>
        </p:nvSpPr>
        <p:spPr>
          <a:xfrm>
            <a:off x="3474720" y="489204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17" name="info label 2"/>
          <p:cNvSpPr txBox="1"/>
          <p:nvPr/>
        </p:nvSpPr>
        <p:spPr>
          <a:xfrm>
            <a:off x="3657600" y="5029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ROLL NUMBER</a:t>
            </a:r>
            <a:endParaRPr lang="en-US" sz="1000" dirty="0"/>
          </a:p>
        </p:txBody>
      </p:sp>
      <p:sp>
        <p:nvSpPr>
          <p:cNvPr id="18" name="info value 2"/>
          <p:cNvSpPr txBox="1"/>
          <p:nvPr/>
        </p:nvSpPr>
        <p:spPr>
          <a:xfrm>
            <a:off x="3657600" y="53218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2341002106</a:t>
            </a:r>
            <a:endParaRPr lang="en-US" sz="1500" dirty="0"/>
          </a:p>
        </p:txBody>
      </p:sp>
      <p:sp>
        <p:nvSpPr>
          <p:cNvPr id="19" name="info card 3"/>
          <p:cNvSpPr/>
          <p:nvPr/>
        </p:nvSpPr>
        <p:spPr>
          <a:xfrm>
            <a:off x="6217920" y="489204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20" name="info label 3"/>
          <p:cNvSpPr txBox="1"/>
          <p:nvPr/>
        </p:nvSpPr>
        <p:spPr>
          <a:xfrm>
            <a:off x="6400800" y="5029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DEPARTMENT</a:t>
            </a:r>
            <a:endParaRPr lang="en-US" sz="1000" dirty="0"/>
          </a:p>
        </p:txBody>
      </p:sp>
      <p:sp>
        <p:nvSpPr>
          <p:cNvPr id="21" name="info value 3"/>
          <p:cNvSpPr txBox="1"/>
          <p:nvPr/>
        </p:nvSpPr>
        <p:spPr>
          <a:xfrm>
            <a:off x="6400800" y="53218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Computer Science and Engineering</a:t>
            </a:r>
            <a:endParaRPr lang="en-US" sz="1500" dirty="0"/>
          </a:p>
        </p:txBody>
      </p:sp>
      <p:sp>
        <p:nvSpPr>
          <p:cNvPr id="22" name="info card 4"/>
          <p:cNvSpPr/>
          <p:nvPr/>
        </p:nvSpPr>
        <p:spPr>
          <a:xfrm>
            <a:off x="8961120" y="489204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23" name="info label 4"/>
          <p:cNvSpPr txBox="1"/>
          <p:nvPr/>
        </p:nvSpPr>
        <p:spPr>
          <a:xfrm>
            <a:off x="9144000" y="5029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TRAINING ORGANIZATION</a:t>
            </a:r>
            <a:endParaRPr lang="en-US" sz="1000" dirty="0"/>
          </a:p>
        </p:txBody>
      </p:sp>
      <p:sp>
        <p:nvSpPr>
          <p:cNvPr id="24" name="info value 4"/>
          <p:cNvSpPr txBox="1"/>
          <p:nvPr/>
        </p:nvSpPr>
        <p:spPr>
          <a:xfrm>
            <a:off x="9144000" y="53218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Wipro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Project Introduction &amp; Objective</a:t>
            </a:r>
            <a:endParaRPr lang="en-US" sz="3600" dirty="0"/>
          </a:p>
        </p:txBody>
      </p:sp>
      <p:sp>
        <p:nvSpPr>
          <p:cNvPr id="3" name="intro paragraph"/>
          <p:cNvSpPr txBox="1"/>
          <p:nvPr/>
        </p:nvSpPr>
        <p:spPr>
          <a:xfrm>
            <a:off x="548640" y="14630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terminal tool for Ubuntu that reads live data from the Linux kernel and shows memory, CPU and process information in one place — and lets the user act on it.</a:t>
            </a:r>
            <a:endParaRPr lang="en-US" sz="1600" dirty="0"/>
          </a:p>
        </p:txBody>
      </p:sp>
      <p:sp>
        <p:nvSpPr>
          <p:cNvPr id="4" name="objectives header"/>
          <p:cNvSpPr txBox="1"/>
          <p:nvPr/>
        </p:nvSpPr>
        <p:spPr>
          <a:xfrm>
            <a:off x="54864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Objectives</a:t>
            </a:r>
            <a:endParaRPr lang="en-US" sz="2200" dirty="0"/>
          </a:p>
        </p:txBody>
      </p:sp>
      <p:sp>
        <p:nvSpPr>
          <p:cNvPr id="5" name="objective 1 circle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objective 1 icon" descr="objectiv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3286354"/>
            <a:ext cx="285293" cy="285293"/>
          </a:xfrm>
          <a:prstGeom prst="rect">
            <a:avLst/>
          </a:prstGeom>
        </p:spPr>
      </p:pic>
      <p:sp>
        <p:nvSpPr>
          <p:cNvPr id="7" name="objective text 1"/>
          <p:cNvSpPr txBox="1"/>
          <p:nvPr/>
        </p:nvSpPr>
        <p:spPr>
          <a:xfrm>
            <a:off x="1325880" y="31546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Monitor system memory and CPU usage in real time</a:t>
            </a:r>
            <a:endParaRPr lang="en-US" sz="1600" dirty="0"/>
          </a:p>
        </p:txBody>
      </p:sp>
      <p:sp>
        <p:nvSpPr>
          <p:cNvPr id="8" name="objective 2 circle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objective 2 icon" descr="objectiv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4017874"/>
            <a:ext cx="285293" cy="285293"/>
          </a:xfrm>
          <a:prstGeom prst="rect">
            <a:avLst/>
          </a:prstGeom>
        </p:spPr>
      </p:pic>
      <p:sp>
        <p:nvSpPr>
          <p:cNvPr id="10" name="objective text 2"/>
          <p:cNvSpPr txBox="1"/>
          <p:nvPr/>
        </p:nvSpPr>
        <p:spPr>
          <a:xfrm>
            <a:off x="1325880" y="38862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List active processes and rank them by CPU or memory</a:t>
            </a:r>
            <a:endParaRPr lang="en-US" sz="1600" dirty="0"/>
          </a:p>
        </p:txBody>
      </p:sp>
      <p:sp>
        <p:nvSpPr>
          <p:cNvPr id="11" name="objective 3 circle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objective 3 icon" descr="objectiv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749394"/>
            <a:ext cx="285293" cy="285293"/>
          </a:xfrm>
          <a:prstGeom prst="rect">
            <a:avLst/>
          </a:prstGeom>
        </p:spPr>
      </p:pic>
      <p:sp>
        <p:nvSpPr>
          <p:cNvPr id="13" name="objective text 3"/>
          <p:cNvSpPr txBox="1"/>
          <p:nvPr/>
        </p:nvSpPr>
        <p:spPr>
          <a:xfrm>
            <a:off x="1325880" y="4617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Terminate a chosen process using its PID</a:t>
            </a:r>
            <a:endParaRPr lang="en-US" sz="1600" dirty="0"/>
          </a:p>
        </p:txBody>
      </p:sp>
      <p:sp>
        <p:nvSpPr>
          <p:cNvPr id="14" name="objective 4 circle"/>
          <p:cNvSpPr/>
          <p:nvPr/>
        </p:nvSpPr>
        <p:spPr>
          <a:xfrm>
            <a:off x="548640" y="5349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objective 4 icon" descr="objectiv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5480914"/>
            <a:ext cx="285293" cy="285293"/>
          </a:xfrm>
          <a:prstGeom prst="rect">
            <a:avLst/>
          </a:prstGeom>
        </p:spPr>
      </p:pic>
      <p:sp>
        <p:nvSpPr>
          <p:cNvPr id="16" name="objective text 4"/>
          <p:cNvSpPr txBox="1"/>
          <p:nvPr/>
        </p:nvSpPr>
        <p:spPr>
          <a:xfrm>
            <a:off x="1325880" y="5349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Combine everything into a continuous terminal monitor</a:t>
            </a:r>
            <a:endParaRPr lang="en-US" sz="1600" dirty="0"/>
          </a:p>
        </p:txBody>
      </p:sp>
      <p:sp>
        <p:nvSpPr>
          <p:cNvPr id="17" name="stat card 1"/>
          <p:cNvSpPr/>
          <p:nvPr/>
        </p:nvSpPr>
        <p:spPr>
          <a:xfrm>
            <a:off x="7680960" y="1463040"/>
            <a:ext cx="3959352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18" name="stat number 1"/>
          <p:cNvSpPr txBox="1"/>
          <p:nvPr/>
        </p:nvSpPr>
        <p:spPr>
          <a:xfrm>
            <a:off x="7955280" y="1600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5</a:t>
            </a:r>
            <a:endParaRPr lang="en-US" sz="4400" dirty="0"/>
          </a:p>
        </p:txBody>
      </p:sp>
      <p:sp>
        <p:nvSpPr>
          <p:cNvPr id="19" name="stat label 1"/>
          <p:cNvSpPr txBox="1"/>
          <p:nvPr/>
        </p:nvSpPr>
        <p:spPr>
          <a:xfrm>
            <a:off x="9418320" y="16002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days of development</a:t>
            </a:r>
            <a:endParaRPr lang="en-US" sz="1400" dirty="0"/>
          </a:p>
        </p:txBody>
      </p:sp>
      <p:sp>
        <p:nvSpPr>
          <p:cNvPr id="20" name="stat card 2"/>
          <p:cNvSpPr/>
          <p:nvPr/>
        </p:nvSpPr>
        <p:spPr>
          <a:xfrm>
            <a:off x="7680960" y="3063240"/>
            <a:ext cx="3959352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21" name="stat number 2"/>
          <p:cNvSpPr txBox="1"/>
          <p:nvPr/>
        </p:nvSpPr>
        <p:spPr>
          <a:xfrm>
            <a:off x="7955280" y="32004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4</a:t>
            </a:r>
            <a:endParaRPr lang="en-US" sz="4400" dirty="0"/>
          </a:p>
        </p:txBody>
      </p:sp>
      <p:sp>
        <p:nvSpPr>
          <p:cNvPr id="22" name="stat label 2"/>
          <p:cNvSpPr txBox="1"/>
          <p:nvPr/>
        </p:nvSpPr>
        <p:spPr>
          <a:xfrm>
            <a:off x="9418320" y="32004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core features: memory, CPU, processes, termination</a:t>
            </a:r>
            <a:endParaRPr lang="en-US" sz="1400" dirty="0"/>
          </a:p>
        </p:txBody>
      </p:sp>
      <p:sp>
        <p:nvSpPr>
          <p:cNvPr id="23" name="stat card 3"/>
          <p:cNvSpPr/>
          <p:nvPr/>
        </p:nvSpPr>
        <p:spPr>
          <a:xfrm>
            <a:off x="7680960" y="4663440"/>
            <a:ext cx="3959352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24" name="stat number 3"/>
          <p:cNvSpPr txBox="1"/>
          <p:nvPr/>
        </p:nvSpPr>
        <p:spPr>
          <a:xfrm>
            <a:off x="7955280" y="48006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2 s</a:t>
            </a:r>
            <a:endParaRPr lang="en-US" sz="4400" dirty="0"/>
          </a:p>
        </p:txBody>
      </p:sp>
      <p:sp>
        <p:nvSpPr>
          <p:cNvPr id="25" name="stat label 3"/>
          <p:cNvSpPr txBox="1"/>
          <p:nvPr/>
        </p:nvSpPr>
        <p:spPr>
          <a:xfrm>
            <a:off x="9418320" y="48006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automatic refresh interval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 / Working Flow</a:t>
            </a:r>
            <a:endParaRPr lang="en-US" sz="3600" dirty="0"/>
          </a:p>
        </p:txBody>
      </p:sp>
      <p:sp>
        <p:nvSpPr>
          <p:cNvPr id="3" name="column 1"/>
          <p:cNvSpPr/>
          <p:nvPr/>
        </p:nvSpPr>
        <p:spPr>
          <a:xfrm>
            <a:off x="548640" y="1463040"/>
            <a:ext cx="32918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4" name="Linux Kernel 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inux Kernel icon" descr="Linux Ker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823314"/>
            <a:ext cx="285293" cy="285293"/>
          </a:xfrm>
          <a:prstGeom prst="rect">
            <a:avLst/>
          </a:prstGeom>
        </p:spPr>
      </p:pic>
      <p:sp>
        <p:nvSpPr>
          <p:cNvPr id="6" name="column head 1"/>
          <p:cNvSpPr txBox="1"/>
          <p:nvPr/>
        </p:nvSpPr>
        <p:spPr>
          <a:xfrm>
            <a:off x="155448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Linux Kernel</a:t>
            </a:r>
            <a:endParaRPr lang="en-US" sz="2000" dirty="0"/>
          </a:p>
        </p:txBody>
      </p:sp>
      <p:sp>
        <p:nvSpPr>
          <p:cNvPr id="7" name="column items 1"/>
          <p:cNvSpPr txBox="1"/>
          <p:nvPr/>
        </p:nvSpPr>
        <p:spPr>
          <a:xfrm>
            <a:off x="868680" y="25603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sysinfo()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/proc/stat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/proc/[PID]/stat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/proc/[PID]/status</a:t>
            </a:r>
            <a:endParaRPr lang="en-US" sz="1400" dirty="0"/>
          </a:p>
        </p:txBody>
      </p:sp>
      <p:sp>
        <p:nvSpPr>
          <p:cNvPr id="8" name="column 2"/>
          <p:cNvSpPr/>
          <p:nvPr/>
        </p:nvSpPr>
        <p:spPr>
          <a:xfrm>
            <a:off x="4297680" y="146304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accent1"/>
          </a:solidFill>
          <a:ln/>
        </p:spPr>
      </p:sp>
      <p:sp>
        <p:nvSpPr>
          <p:cNvPr id="9" name="C++17 Modules circle"/>
          <p:cNvSpPr/>
          <p:nvPr/>
        </p:nvSpPr>
        <p:spPr>
          <a:xfrm>
            <a:off x="4572000" y="16916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C++17 Modules icon" descr="C++17 Modu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823314"/>
            <a:ext cx="285293" cy="285293"/>
          </a:xfrm>
          <a:prstGeom prst="rect">
            <a:avLst/>
          </a:prstGeom>
        </p:spPr>
      </p:pic>
      <p:sp>
        <p:nvSpPr>
          <p:cNvPr id="11" name="column head 2"/>
          <p:cNvSpPr txBox="1"/>
          <p:nvPr/>
        </p:nvSpPr>
        <p:spPr>
          <a:xfrm>
            <a:off x="530352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C++17 Modules</a:t>
            </a:r>
            <a:endParaRPr lang="en-US" sz="2000" dirty="0"/>
          </a:p>
        </p:txBody>
      </p:sp>
      <p:sp>
        <p:nvSpPr>
          <p:cNvPr id="12" name="column items 2"/>
          <p:cNvSpPr txBox="1"/>
          <p:nvPr/>
        </p:nvSpPr>
        <p:spPr>
          <a:xfrm>
            <a:off x="4617720" y="25603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Memory module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CPU module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Process module (vector + sort)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Control module (kill)</a:t>
            </a:r>
            <a:endParaRPr lang="en-US" sz="1500" dirty="0"/>
          </a:p>
        </p:txBody>
      </p:sp>
      <p:sp>
        <p:nvSpPr>
          <p:cNvPr id="13" name="column 3"/>
          <p:cNvSpPr/>
          <p:nvPr/>
        </p:nvSpPr>
        <p:spPr>
          <a:xfrm>
            <a:off x="8321040" y="1463040"/>
            <a:ext cx="3319272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4" name="Terminal UI circle"/>
          <p:cNvSpPr/>
          <p:nvPr/>
        </p:nvSpPr>
        <p:spPr>
          <a:xfrm>
            <a:off x="85953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Terminal UI icon" descr="Terminal U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034" y="1823314"/>
            <a:ext cx="285293" cy="285293"/>
          </a:xfrm>
          <a:prstGeom prst="rect">
            <a:avLst/>
          </a:prstGeom>
        </p:spPr>
      </p:pic>
      <p:sp>
        <p:nvSpPr>
          <p:cNvPr id="16" name="column head 3"/>
          <p:cNvSpPr txBox="1"/>
          <p:nvPr/>
        </p:nvSpPr>
        <p:spPr>
          <a:xfrm>
            <a:off x="9326880" y="169164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Terminal UI</a:t>
            </a:r>
            <a:endParaRPr lang="en-US" sz="2000" dirty="0"/>
          </a:p>
        </p:txBody>
      </p:sp>
      <p:sp>
        <p:nvSpPr>
          <p:cNvPr id="17" name="column items 3"/>
          <p:cNvSpPr txBox="1"/>
          <p:nvPr/>
        </p:nvSpPr>
        <p:spPr>
          <a:xfrm>
            <a:off x="8641080" y="2560320"/>
            <a:ext cx="27706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Memory and CPU summary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Top 10 processes by CPU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Input: PID  |  Enter  |  q</a:t>
            </a:r>
            <a:endParaRPr lang="en-US" sz="1500" dirty="0"/>
          </a:p>
        </p:txBody>
      </p:sp>
      <p:sp>
        <p:nvSpPr>
          <p:cNvPr id="18" name="flow arrow"/>
          <p:cNvSpPr/>
          <p:nvPr/>
        </p:nvSpPr>
        <p:spPr>
          <a:xfrm>
            <a:off x="3931920" y="2880360"/>
            <a:ext cx="274320" cy="4572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9" name="flow arrow"/>
          <p:cNvSpPr/>
          <p:nvPr/>
        </p:nvSpPr>
        <p:spPr>
          <a:xfrm>
            <a:off x="7955280" y="2880360"/>
            <a:ext cx="274320" cy="4572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0" name="reads label"/>
          <p:cNvSpPr txBox="1"/>
          <p:nvPr/>
        </p:nvSpPr>
        <p:spPr>
          <a:xfrm>
            <a:off x="3749040" y="3383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reads</a:t>
            </a:r>
            <a:endParaRPr lang="en-US" sz="1100" dirty="0"/>
          </a:p>
        </p:txBody>
      </p:sp>
      <p:sp>
        <p:nvSpPr>
          <p:cNvPr id="21" name="shows label"/>
          <p:cNvSpPr txBox="1"/>
          <p:nvPr/>
        </p:nvSpPr>
        <p:spPr>
          <a:xfrm>
            <a:off x="7772400" y="3383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shows</a:t>
            </a:r>
            <a:endParaRPr lang="en-US" sz="1100" dirty="0"/>
          </a:p>
        </p:txBody>
      </p:sp>
      <p:sp>
        <p:nvSpPr>
          <p:cNvPr id="22" name="loop strip"/>
          <p:cNvSpPr/>
          <p:nvPr/>
        </p:nvSpPr>
        <p:spPr>
          <a:xfrm>
            <a:off x="548640" y="502920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23" name="loop step 1"/>
          <p:cNvSpPr txBox="1"/>
          <p:nvPr/>
        </p:nvSpPr>
        <p:spPr>
          <a:xfrm>
            <a:off x="973836" y="5029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Refresh data</a:t>
            </a:r>
            <a:endParaRPr lang="en-US" sz="1500" dirty="0"/>
          </a:p>
        </p:txBody>
      </p:sp>
      <p:sp>
        <p:nvSpPr>
          <p:cNvPr id="24" name="flow arrow"/>
          <p:cNvSpPr/>
          <p:nvPr/>
        </p:nvSpPr>
        <p:spPr>
          <a:xfrm>
            <a:off x="2866644" y="5367528"/>
            <a:ext cx="182880" cy="27432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25" name="loop step 2"/>
          <p:cNvSpPr txBox="1"/>
          <p:nvPr/>
        </p:nvSpPr>
        <p:spPr>
          <a:xfrm>
            <a:off x="3076956" y="5029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Sort &amp; show top 10</a:t>
            </a:r>
            <a:endParaRPr lang="en-US" sz="1500" dirty="0"/>
          </a:p>
        </p:txBody>
      </p:sp>
      <p:sp>
        <p:nvSpPr>
          <p:cNvPr id="26" name="flow arrow"/>
          <p:cNvSpPr/>
          <p:nvPr/>
        </p:nvSpPr>
        <p:spPr>
          <a:xfrm>
            <a:off x="4969764" y="5367528"/>
            <a:ext cx="182880" cy="27432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27" name="loop step 3"/>
          <p:cNvSpPr txBox="1"/>
          <p:nvPr/>
        </p:nvSpPr>
        <p:spPr>
          <a:xfrm>
            <a:off x="5180076" y="5029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Read PID to kill</a:t>
            </a:r>
            <a:endParaRPr lang="en-US" sz="1500" dirty="0"/>
          </a:p>
        </p:txBody>
      </p:sp>
      <p:sp>
        <p:nvSpPr>
          <p:cNvPr id="28" name="flow arrow"/>
          <p:cNvSpPr/>
          <p:nvPr/>
        </p:nvSpPr>
        <p:spPr>
          <a:xfrm>
            <a:off x="7072884" y="5367528"/>
            <a:ext cx="182880" cy="27432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29" name="loop step 4"/>
          <p:cNvSpPr txBox="1"/>
          <p:nvPr/>
        </p:nvSpPr>
        <p:spPr>
          <a:xfrm>
            <a:off x="7283196" y="5029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Enter / q</a:t>
            </a:r>
            <a:endParaRPr lang="en-US" sz="1500" dirty="0"/>
          </a:p>
        </p:txBody>
      </p:sp>
      <p:sp>
        <p:nvSpPr>
          <p:cNvPr id="30" name="flow arrow"/>
          <p:cNvSpPr/>
          <p:nvPr/>
        </p:nvSpPr>
        <p:spPr>
          <a:xfrm>
            <a:off x="9176004" y="5367528"/>
            <a:ext cx="182880" cy="274320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31" name="loop step 5"/>
          <p:cNvSpPr txBox="1"/>
          <p:nvPr/>
        </p:nvSpPr>
        <p:spPr>
          <a:xfrm>
            <a:off x="9386316" y="5029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Wait 2 s, repeat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Day 1 – Memory Monitoring</a:t>
            </a:r>
            <a:endParaRPr lang="en-US" sz="3600" dirty="0"/>
          </a:p>
        </p:txBody>
      </p:sp>
      <p:sp>
        <p:nvSpPr>
          <p:cNvPr id="3" name="day label"/>
          <p:cNvSpPr txBox="1"/>
          <p:nvPr/>
        </p:nvSpPr>
        <p:spPr>
          <a:xfrm>
            <a:off x="10241280" y="45720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DAY 1 OF 5</a:t>
            </a:r>
            <a:endParaRPr lang="en-US" sz="1000" dirty="0"/>
          </a:p>
        </p:txBody>
      </p:sp>
      <p:sp>
        <p:nvSpPr>
          <p:cNvPr id="4" name="progress dot 1"/>
          <p:cNvSpPr/>
          <p:nvPr/>
        </p:nvSpPr>
        <p:spPr>
          <a:xfrm>
            <a:off x="10451592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rogress dot 2"/>
          <p:cNvSpPr/>
          <p:nvPr/>
        </p:nvSpPr>
        <p:spPr>
          <a:xfrm>
            <a:off x="10707624" y="749808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progress dot 3"/>
          <p:cNvSpPr/>
          <p:nvPr/>
        </p:nvSpPr>
        <p:spPr>
          <a:xfrm>
            <a:off x="10963656" y="749808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progress dot 4"/>
          <p:cNvSpPr/>
          <p:nvPr/>
        </p:nvSpPr>
        <p:spPr>
          <a:xfrm>
            <a:off x="11219688" y="749808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progress dot 5"/>
          <p:cNvSpPr/>
          <p:nvPr/>
        </p:nvSpPr>
        <p:spPr>
          <a:xfrm>
            <a:off x="11475720" y="749808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day 1 point 1 circle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day 1 point 1 icon" descr="day 1 poin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708099"/>
            <a:ext cx="332842" cy="332842"/>
          </a:xfrm>
          <a:prstGeom prst="rect">
            <a:avLst/>
          </a:prstGeom>
        </p:spPr>
      </p:pic>
      <p:sp>
        <p:nvSpPr>
          <p:cNvPr id="11" name="point head 1"/>
          <p:cNvSpPr txBox="1"/>
          <p:nvPr/>
        </p:nvSpPr>
        <p:spPr>
          <a:xfrm>
            <a:off x="141732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 with sysinfo()</a:t>
            </a:r>
            <a:endParaRPr lang="en-US" sz="1800" dirty="0"/>
          </a:p>
        </p:txBody>
      </p:sp>
      <p:sp>
        <p:nvSpPr>
          <p:cNvPr id="12" name="point text 1"/>
          <p:cNvSpPr txBox="1"/>
          <p:nvPr/>
        </p:nvSpPr>
        <p:spPr>
          <a:xfrm>
            <a:off x="1417320" y="19019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call fills struct sysinfo from &lt;sys/sysinfo.h&gt;.</a:t>
            </a:r>
            <a:endParaRPr lang="en-US" sz="1400" dirty="0"/>
          </a:p>
        </p:txBody>
      </p:sp>
      <p:sp>
        <p:nvSpPr>
          <p:cNvPr id="13" name="day 1 point 2 circle"/>
          <p:cNvSpPr/>
          <p:nvPr/>
        </p:nvSpPr>
        <p:spPr>
          <a:xfrm>
            <a:off x="548640" y="2697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day 1 point 2 icon" descr="day 1 poin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851099"/>
            <a:ext cx="332842" cy="332842"/>
          </a:xfrm>
          <a:prstGeom prst="rect">
            <a:avLst/>
          </a:prstGeom>
        </p:spPr>
      </p:pic>
      <p:sp>
        <p:nvSpPr>
          <p:cNvPr id="15" name="point head 2"/>
          <p:cNvSpPr txBox="1"/>
          <p:nvPr/>
        </p:nvSpPr>
        <p:spPr>
          <a:xfrm>
            <a:off x="141732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Total RAM</a:t>
            </a:r>
            <a:endParaRPr lang="en-US" sz="1800" dirty="0"/>
          </a:p>
        </p:txBody>
      </p:sp>
      <p:sp>
        <p:nvSpPr>
          <p:cNvPr id="16" name="point text 2"/>
          <p:cNvSpPr txBox="1"/>
          <p:nvPr/>
        </p:nvSpPr>
        <p:spPr>
          <a:xfrm>
            <a:off x="1417320" y="30449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Displayed in both MB and GB.</a:t>
            </a:r>
            <a:endParaRPr lang="en-US" sz="1400" dirty="0"/>
          </a:p>
        </p:txBody>
      </p:sp>
      <p:sp>
        <p:nvSpPr>
          <p:cNvPr id="17" name="day 1 point 3 circle"/>
          <p:cNvSpPr/>
          <p:nvPr/>
        </p:nvSpPr>
        <p:spPr>
          <a:xfrm>
            <a:off x="548640" y="3840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day 1 point 3 icon" descr="day 1 poin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994099"/>
            <a:ext cx="332842" cy="332842"/>
          </a:xfrm>
          <a:prstGeom prst="rect">
            <a:avLst/>
          </a:prstGeom>
        </p:spPr>
      </p:pic>
      <p:sp>
        <p:nvSpPr>
          <p:cNvPr id="19" name="point head 3"/>
          <p:cNvSpPr txBox="1"/>
          <p:nvPr/>
        </p:nvSpPr>
        <p:spPr>
          <a:xfrm>
            <a:off x="141732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Unused RAM</a:t>
            </a:r>
            <a:endParaRPr lang="en-US" sz="1800" dirty="0"/>
          </a:p>
        </p:txBody>
      </p:sp>
      <p:sp>
        <p:nvSpPr>
          <p:cNvPr id="20" name="point text 3"/>
          <p:cNvSpPr txBox="1"/>
          <p:nvPr/>
        </p:nvSpPr>
        <p:spPr>
          <a:xfrm>
            <a:off x="1417320" y="41879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Free memory taken from the freeram field.</a:t>
            </a:r>
            <a:endParaRPr lang="en-US" sz="1400" dirty="0"/>
          </a:p>
        </p:txBody>
      </p:sp>
      <p:sp>
        <p:nvSpPr>
          <p:cNvPr id="21" name="day 1 code card"/>
          <p:cNvSpPr/>
          <p:nvPr/>
        </p:nvSpPr>
        <p:spPr>
          <a:xfrm>
            <a:off x="5760720" y="1463040"/>
            <a:ext cx="5879592" cy="3474720"/>
          </a:xfrm>
          <a:prstGeom prst="roundRect">
            <a:avLst>
              <a:gd name="adj" fmla="val 3158"/>
            </a:avLst>
          </a:prstGeom>
          <a:solidFill>
            <a:schemeClr val="tx1"/>
          </a:solidFill>
          <a:ln/>
        </p:spPr>
      </p:sp>
      <p:sp>
        <p:nvSpPr>
          <p:cNvPr id="22" name="window dot 1"/>
          <p:cNvSpPr/>
          <p:nvPr/>
        </p:nvSpPr>
        <p:spPr>
          <a:xfrm>
            <a:off x="5989320" y="164592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window dot 2"/>
          <p:cNvSpPr/>
          <p:nvPr/>
        </p:nvSpPr>
        <p:spPr>
          <a:xfrm>
            <a:off x="6172200" y="164592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window dot 3"/>
          <p:cNvSpPr/>
          <p:nvPr/>
        </p:nvSpPr>
        <p:spPr>
          <a:xfrm>
            <a:off x="6355080" y="164592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day 1 code label"/>
          <p:cNvSpPr txBox="1"/>
          <p:nvPr/>
        </p:nvSpPr>
        <p:spPr>
          <a:xfrm>
            <a:off x="8714232" y="16093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1D6"/>
                </a:solidFill>
              </a:rPr>
              <a:t>Day 1  |  excerpt from day1.cpp</a:t>
            </a:r>
            <a:endParaRPr lang="en-US" sz="1000" dirty="0"/>
          </a:p>
        </p:txBody>
      </p:sp>
      <p:sp>
        <p:nvSpPr>
          <p:cNvPr id="26" name="day 1 code"/>
          <p:cNvSpPr txBox="1"/>
          <p:nvPr/>
        </p:nvSpPr>
        <p:spPr>
          <a:xfrm>
            <a:off x="6035040" y="2011680"/>
            <a:ext cx="53309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&lt;sys/sysinfo.h&gt;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sysinfo info;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(sysinfo(&amp;info) == 0)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</a:t>
            </a:r>
            <a:pPr indent="0" marL="0"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 RAM In MB: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&lt;&lt; info.totalram / (1024 * 1024) &lt;&lt; </a:t>
            </a:r>
            <a:pPr indent="0" marL="0"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MB\n"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</a:t>
            </a:r>
            <a:pPr indent="0" marL="0"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 RAM In GB: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&lt;&lt; info.totalram / (1024 * 1024 * 1024)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&lt;&lt; </a:t>
            </a:r>
            <a:pPr indent="0" marL="0"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GB\n"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</a:t>
            </a:r>
            <a:pPr indent="0" marL="0"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 unused RAM: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&lt;&lt; info.freeram / (1024 * 1024) &lt;&lt; </a:t>
            </a:r>
            <a:pPr indent="0" marL="0"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MB\n"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7" name="key idea card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8" name="key idea text"/>
          <p:cNvSpPr txBox="1"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idea: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RAM values are in bytes  →  ÷ 1024² for MB,  ÷ 1024³ for GB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Day 2 – CPU Monitoring</a:t>
            </a:r>
            <a:endParaRPr lang="en-US" sz="3600" dirty="0"/>
          </a:p>
        </p:txBody>
      </p:sp>
      <p:sp>
        <p:nvSpPr>
          <p:cNvPr id="3" name="day label"/>
          <p:cNvSpPr txBox="1"/>
          <p:nvPr/>
        </p:nvSpPr>
        <p:spPr>
          <a:xfrm>
            <a:off x="10241280" y="45720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DAY 2 OF 5</a:t>
            </a:r>
            <a:endParaRPr lang="en-US" sz="1000" dirty="0"/>
          </a:p>
        </p:txBody>
      </p:sp>
      <p:sp>
        <p:nvSpPr>
          <p:cNvPr id="4" name="progress dot 1"/>
          <p:cNvSpPr/>
          <p:nvPr/>
        </p:nvSpPr>
        <p:spPr>
          <a:xfrm>
            <a:off x="10451592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rogress dot 2"/>
          <p:cNvSpPr/>
          <p:nvPr/>
        </p:nvSpPr>
        <p:spPr>
          <a:xfrm>
            <a:off x="10707624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rogress dot 3"/>
          <p:cNvSpPr/>
          <p:nvPr/>
        </p:nvSpPr>
        <p:spPr>
          <a:xfrm>
            <a:off x="10963656" y="749808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progress dot 4"/>
          <p:cNvSpPr/>
          <p:nvPr/>
        </p:nvSpPr>
        <p:spPr>
          <a:xfrm>
            <a:off x="11219688" y="749808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progress dot 5"/>
          <p:cNvSpPr/>
          <p:nvPr/>
        </p:nvSpPr>
        <p:spPr>
          <a:xfrm>
            <a:off x="11475720" y="749808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fields label"/>
          <p:cNvSpPr txBox="1"/>
          <p:nvPr/>
        </p:nvSpPr>
        <p:spPr>
          <a:xfrm>
            <a:off x="548640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Fields read from the first line of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/proc/stat</a:t>
            </a:r>
            <a:endParaRPr lang="en-US" sz="1400" dirty="0"/>
          </a:p>
        </p:txBody>
      </p:sp>
      <p:sp>
        <p:nvSpPr>
          <p:cNvPr id="10" name="field chip user"/>
          <p:cNvSpPr/>
          <p:nvPr/>
        </p:nvSpPr>
        <p:spPr>
          <a:xfrm>
            <a:off x="548640" y="1874520"/>
            <a:ext cx="987552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1" name="field text user"/>
          <p:cNvSpPr txBox="1"/>
          <p:nvPr/>
        </p:nvSpPr>
        <p:spPr>
          <a:xfrm>
            <a:off x="548640" y="187452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100" dirty="0"/>
          </a:p>
        </p:txBody>
      </p:sp>
      <p:sp>
        <p:nvSpPr>
          <p:cNvPr id="12" name="field chip nice"/>
          <p:cNvSpPr/>
          <p:nvPr/>
        </p:nvSpPr>
        <p:spPr>
          <a:xfrm>
            <a:off x="1627632" y="1874520"/>
            <a:ext cx="987552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3" name="field text nice"/>
          <p:cNvSpPr txBox="1"/>
          <p:nvPr/>
        </p:nvSpPr>
        <p:spPr>
          <a:xfrm>
            <a:off x="1627632" y="187452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nice</a:t>
            </a:r>
            <a:endParaRPr lang="en-US" sz="1100" dirty="0"/>
          </a:p>
        </p:txBody>
      </p:sp>
      <p:sp>
        <p:nvSpPr>
          <p:cNvPr id="14" name="field chip system"/>
          <p:cNvSpPr/>
          <p:nvPr/>
        </p:nvSpPr>
        <p:spPr>
          <a:xfrm>
            <a:off x="2706624" y="1874520"/>
            <a:ext cx="987552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5" name="field text system"/>
          <p:cNvSpPr txBox="1"/>
          <p:nvPr/>
        </p:nvSpPr>
        <p:spPr>
          <a:xfrm>
            <a:off x="2706624" y="187452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1100" dirty="0"/>
          </a:p>
        </p:txBody>
      </p:sp>
      <p:sp>
        <p:nvSpPr>
          <p:cNvPr id="16" name="field chip idle"/>
          <p:cNvSpPr/>
          <p:nvPr/>
        </p:nvSpPr>
        <p:spPr>
          <a:xfrm>
            <a:off x="3785616" y="1874520"/>
            <a:ext cx="987552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7" name="field text idle"/>
          <p:cNvSpPr txBox="1"/>
          <p:nvPr/>
        </p:nvSpPr>
        <p:spPr>
          <a:xfrm>
            <a:off x="3785616" y="187452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</a:t>
            </a:r>
            <a:endParaRPr lang="en-US" sz="1100" dirty="0"/>
          </a:p>
        </p:txBody>
      </p:sp>
      <p:sp>
        <p:nvSpPr>
          <p:cNvPr id="18" name="field chip iowait"/>
          <p:cNvSpPr/>
          <p:nvPr/>
        </p:nvSpPr>
        <p:spPr>
          <a:xfrm>
            <a:off x="4864608" y="1874520"/>
            <a:ext cx="987552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9" name="field text iowait"/>
          <p:cNvSpPr txBox="1"/>
          <p:nvPr/>
        </p:nvSpPr>
        <p:spPr>
          <a:xfrm>
            <a:off x="4864608" y="187452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iowait</a:t>
            </a:r>
            <a:endParaRPr lang="en-US" sz="1100" dirty="0"/>
          </a:p>
        </p:txBody>
      </p:sp>
      <p:sp>
        <p:nvSpPr>
          <p:cNvPr id="20" name="field chip irq"/>
          <p:cNvSpPr/>
          <p:nvPr/>
        </p:nvSpPr>
        <p:spPr>
          <a:xfrm>
            <a:off x="548640" y="2423160"/>
            <a:ext cx="987552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1" name="field text irq"/>
          <p:cNvSpPr txBox="1"/>
          <p:nvPr/>
        </p:nvSpPr>
        <p:spPr>
          <a:xfrm>
            <a:off x="548640" y="242316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irq</a:t>
            </a:r>
            <a:endParaRPr lang="en-US" sz="1100" dirty="0"/>
          </a:p>
        </p:txBody>
      </p:sp>
      <p:sp>
        <p:nvSpPr>
          <p:cNvPr id="22" name="field chip softirq"/>
          <p:cNvSpPr/>
          <p:nvPr/>
        </p:nvSpPr>
        <p:spPr>
          <a:xfrm>
            <a:off x="1627632" y="2423160"/>
            <a:ext cx="987552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3" name="field text softirq"/>
          <p:cNvSpPr txBox="1"/>
          <p:nvPr/>
        </p:nvSpPr>
        <p:spPr>
          <a:xfrm>
            <a:off x="1627632" y="242316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softirq</a:t>
            </a:r>
            <a:endParaRPr lang="en-US" sz="1100" dirty="0"/>
          </a:p>
        </p:txBody>
      </p:sp>
      <p:sp>
        <p:nvSpPr>
          <p:cNvPr id="24" name="field chip steal"/>
          <p:cNvSpPr/>
          <p:nvPr/>
        </p:nvSpPr>
        <p:spPr>
          <a:xfrm>
            <a:off x="2706624" y="2423160"/>
            <a:ext cx="987552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5" name="field text steal"/>
          <p:cNvSpPr txBox="1"/>
          <p:nvPr/>
        </p:nvSpPr>
        <p:spPr>
          <a:xfrm>
            <a:off x="2706624" y="242316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steal</a:t>
            </a:r>
            <a:endParaRPr lang="en-US" sz="1100" dirty="0"/>
          </a:p>
        </p:txBody>
      </p:sp>
      <p:sp>
        <p:nvSpPr>
          <p:cNvPr id="26" name="field chip guest"/>
          <p:cNvSpPr/>
          <p:nvPr/>
        </p:nvSpPr>
        <p:spPr>
          <a:xfrm>
            <a:off x="3785616" y="2423160"/>
            <a:ext cx="987552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7" name="field text guest"/>
          <p:cNvSpPr txBox="1"/>
          <p:nvPr/>
        </p:nvSpPr>
        <p:spPr>
          <a:xfrm>
            <a:off x="3785616" y="242316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</a:t>
            </a:r>
            <a:endParaRPr lang="en-US" sz="1100" dirty="0"/>
          </a:p>
        </p:txBody>
      </p:sp>
      <p:sp>
        <p:nvSpPr>
          <p:cNvPr id="28" name="field chip guest_nice"/>
          <p:cNvSpPr/>
          <p:nvPr/>
        </p:nvSpPr>
        <p:spPr>
          <a:xfrm>
            <a:off x="4864608" y="2423160"/>
            <a:ext cx="987552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9" name="field text guest_nice"/>
          <p:cNvSpPr txBox="1"/>
          <p:nvPr/>
        </p:nvSpPr>
        <p:spPr>
          <a:xfrm>
            <a:off x="4864608" y="242316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guest_nice</a:t>
            </a:r>
            <a:endParaRPr lang="en-US" sz="1100" dirty="0"/>
          </a:p>
        </p:txBody>
      </p:sp>
      <p:sp>
        <p:nvSpPr>
          <p:cNvPr id="30" name="chip legend"/>
          <p:cNvSpPr txBox="1"/>
          <p:nvPr/>
        </p:nvSpPr>
        <p:spPr>
          <a:xfrm>
            <a:off x="548640" y="30175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All 10 counters are summed into total CPU time</a:t>
            </a:r>
            <a:endParaRPr lang="en-US" sz="1100" dirty="0"/>
          </a:p>
        </p:txBody>
      </p:sp>
      <p:sp>
        <p:nvSpPr>
          <p:cNvPr id="31" name="calc card"/>
          <p:cNvSpPr/>
          <p:nvPr/>
        </p:nvSpPr>
        <p:spPr>
          <a:xfrm>
            <a:off x="548640" y="3474720"/>
            <a:ext cx="53949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32" name="calc header"/>
          <p:cNvSpPr txBox="1"/>
          <p:nvPr/>
        </p:nvSpPr>
        <p:spPr>
          <a:xfrm>
            <a:off x="822960" y="3611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Calculations</a:t>
            </a:r>
            <a:endParaRPr lang="en-US" sz="1800" dirty="0"/>
          </a:p>
        </p:txBody>
      </p:sp>
      <p:sp>
        <p:nvSpPr>
          <p:cNvPr id="33" name="calc lines"/>
          <p:cNvSpPr txBox="1"/>
          <p:nvPr/>
        </p:nvSpPr>
        <p:spPr>
          <a:xfrm>
            <a:off x="822960" y="406908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Total CPU time: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sum of all 10 counters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Idle time: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idle + iowait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Active time: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total − idle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CPU usage %: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active ÷ total × 100</a:t>
            </a:r>
            <a:endParaRPr lang="en-US" sz="1500" dirty="0"/>
          </a:p>
        </p:txBody>
      </p:sp>
      <p:sp>
        <p:nvSpPr>
          <p:cNvPr id="34" name="day 2 code card"/>
          <p:cNvSpPr/>
          <p:nvPr/>
        </p:nvSpPr>
        <p:spPr>
          <a:xfrm>
            <a:off x="6217920" y="1463040"/>
            <a:ext cx="5422392" cy="452628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35" name="window dot 1"/>
          <p:cNvSpPr/>
          <p:nvPr/>
        </p:nvSpPr>
        <p:spPr>
          <a:xfrm>
            <a:off x="6446520" y="164592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6" name="window dot 2"/>
          <p:cNvSpPr/>
          <p:nvPr/>
        </p:nvSpPr>
        <p:spPr>
          <a:xfrm>
            <a:off x="6629400" y="164592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7" name="window dot 3"/>
          <p:cNvSpPr/>
          <p:nvPr/>
        </p:nvSpPr>
        <p:spPr>
          <a:xfrm>
            <a:off x="6812280" y="164592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8" name="day 2 code label"/>
          <p:cNvSpPr txBox="1"/>
          <p:nvPr/>
        </p:nvSpPr>
        <p:spPr>
          <a:xfrm>
            <a:off x="8714232" y="16093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1D6"/>
                </a:solidFill>
              </a:rPr>
              <a:t>Day 2  |  excerpt from day2.cpp</a:t>
            </a:r>
            <a:endParaRPr lang="en-US" sz="1000" dirty="0"/>
          </a:p>
        </p:txBody>
      </p:sp>
      <p:sp>
        <p:nvSpPr>
          <p:cNvPr id="39" name="day 2 code"/>
          <p:cNvSpPr txBox="1"/>
          <p:nvPr/>
        </p:nvSpPr>
        <p:spPr>
          <a:xfrm>
            <a:off x="6492240" y="2011680"/>
            <a:ext cx="487375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CPUData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user, nice, system, idle, iowait,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irq, softirq, steal, guest, guest_nice;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ifstream file(</a:t>
            </a:r>
            <a:pPr indent="0" marL="0"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"/proc/stat"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getline(file, line);             </a:t>
            </a:r>
            <a:pPr indent="0" marL="0">
              <a:buNone/>
            </a:pPr>
            <a:r>
              <a:rPr lang="en-US" sz="1200" dirty="0">
                <a:solidFill>
                  <a:srgbClr val="8C9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first 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istringstream ss(line);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 &gt;&gt; cpuLabel &gt;&gt; cpu.user &gt;&gt; cpu.nice &gt;&gt; cpu.system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&gt;&gt; cpu.idle &gt;&gt; cpu.iowait &gt;&gt; cpu.irq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&gt;&gt; cpu.softirq &gt;&gt; cpu.steal &gt;&gt; cpu.guest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&gt;&gt; cpu.guest_nice;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idle = cpu.idle + cpu.iowait;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C9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total = sum of all 10 counters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ActiveTime = totalCPUTime - idle;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Day 3 – Process Monitoring</a:t>
            </a:r>
            <a:endParaRPr lang="en-US" sz="3600" dirty="0"/>
          </a:p>
        </p:txBody>
      </p:sp>
      <p:sp>
        <p:nvSpPr>
          <p:cNvPr id="3" name="day label"/>
          <p:cNvSpPr txBox="1"/>
          <p:nvPr/>
        </p:nvSpPr>
        <p:spPr>
          <a:xfrm>
            <a:off x="10241280" y="45720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DAY 3 OF 5</a:t>
            </a:r>
            <a:endParaRPr lang="en-US" sz="1000" dirty="0"/>
          </a:p>
        </p:txBody>
      </p:sp>
      <p:sp>
        <p:nvSpPr>
          <p:cNvPr id="4" name="progress dot 1"/>
          <p:cNvSpPr/>
          <p:nvPr/>
        </p:nvSpPr>
        <p:spPr>
          <a:xfrm>
            <a:off x="10451592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rogress dot 2"/>
          <p:cNvSpPr/>
          <p:nvPr/>
        </p:nvSpPr>
        <p:spPr>
          <a:xfrm>
            <a:off x="10707624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rogress dot 3"/>
          <p:cNvSpPr/>
          <p:nvPr/>
        </p:nvSpPr>
        <p:spPr>
          <a:xfrm>
            <a:off x="10963656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 dot 4"/>
          <p:cNvSpPr/>
          <p:nvPr/>
        </p:nvSpPr>
        <p:spPr>
          <a:xfrm>
            <a:off x="11219688" y="749808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progress dot 5"/>
          <p:cNvSpPr/>
          <p:nvPr/>
        </p:nvSpPr>
        <p:spPr>
          <a:xfrm>
            <a:off x="11475720" y="749808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step card 1"/>
          <p:cNvSpPr/>
          <p:nvPr/>
        </p:nvSpPr>
        <p:spPr>
          <a:xfrm>
            <a:off x="548640" y="1463040"/>
            <a:ext cx="2002536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0" name="step 1 circle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tep 1 icon" descr="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09928"/>
            <a:ext cx="237744" cy="237744"/>
          </a:xfrm>
          <a:prstGeom prst="rect">
            <a:avLst/>
          </a:prstGeom>
        </p:spPr>
      </p:pic>
      <p:sp>
        <p:nvSpPr>
          <p:cNvPr id="12" name="step head 1"/>
          <p:cNvSpPr txBox="1"/>
          <p:nvPr/>
        </p:nvSpPr>
        <p:spPr>
          <a:xfrm>
            <a:off x="731520" y="214884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Scan /proc</a:t>
            </a:r>
            <a:endParaRPr lang="en-US" sz="1500" dirty="0"/>
          </a:p>
        </p:txBody>
      </p:sp>
      <p:sp>
        <p:nvSpPr>
          <p:cNvPr id="13" name="step text 1"/>
          <p:cNvSpPr txBox="1"/>
          <p:nvPr/>
        </p:nvSpPr>
        <p:spPr>
          <a:xfrm>
            <a:off x="731520" y="244144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numeric folders = PIDs</a:t>
            </a:r>
            <a:endParaRPr lang="en-US" sz="1200" dirty="0"/>
          </a:p>
        </p:txBody>
      </p:sp>
      <p:sp>
        <p:nvSpPr>
          <p:cNvPr id="14" name="flow arrow"/>
          <p:cNvSpPr/>
          <p:nvPr/>
        </p:nvSpPr>
        <p:spPr>
          <a:xfrm>
            <a:off x="2587752" y="1965960"/>
            <a:ext cx="182880" cy="3200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5" name="step card 2"/>
          <p:cNvSpPr/>
          <p:nvPr/>
        </p:nvSpPr>
        <p:spPr>
          <a:xfrm>
            <a:off x="2820924" y="1463040"/>
            <a:ext cx="2002536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6" name="step 2 circle"/>
          <p:cNvSpPr/>
          <p:nvPr/>
        </p:nvSpPr>
        <p:spPr>
          <a:xfrm>
            <a:off x="3003804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tep 2 icon" descr="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532" y="1709928"/>
            <a:ext cx="237744" cy="237744"/>
          </a:xfrm>
          <a:prstGeom prst="rect">
            <a:avLst/>
          </a:prstGeom>
        </p:spPr>
      </p:pic>
      <p:sp>
        <p:nvSpPr>
          <p:cNvPr id="18" name="step head 2"/>
          <p:cNvSpPr txBox="1"/>
          <p:nvPr/>
        </p:nvSpPr>
        <p:spPr>
          <a:xfrm>
            <a:off x="3003804" y="214884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stat</a:t>
            </a:r>
            <a:endParaRPr lang="en-US" sz="1500" dirty="0"/>
          </a:p>
        </p:txBody>
      </p:sp>
      <p:sp>
        <p:nvSpPr>
          <p:cNvPr id="19" name="step text 2"/>
          <p:cNvSpPr txBox="1"/>
          <p:nvPr/>
        </p:nvSpPr>
        <p:spPr>
          <a:xfrm>
            <a:off x="3003804" y="244144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PID, name, CPU ticks</a:t>
            </a:r>
            <a:endParaRPr lang="en-US" sz="1200" dirty="0"/>
          </a:p>
        </p:txBody>
      </p:sp>
      <p:sp>
        <p:nvSpPr>
          <p:cNvPr id="20" name="flow arrow"/>
          <p:cNvSpPr/>
          <p:nvPr/>
        </p:nvSpPr>
        <p:spPr>
          <a:xfrm>
            <a:off x="4860036" y="1965960"/>
            <a:ext cx="182880" cy="3200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1" name="step card 3"/>
          <p:cNvSpPr/>
          <p:nvPr/>
        </p:nvSpPr>
        <p:spPr>
          <a:xfrm>
            <a:off x="5093208" y="1463040"/>
            <a:ext cx="2002536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2" name="step 3 circle"/>
          <p:cNvSpPr/>
          <p:nvPr/>
        </p:nvSpPr>
        <p:spPr>
          <a:xfrm>
            <a:off x="5276088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step 3 icon" descr="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709928"/>
            <a:ext cx="237744" cy="237744"/>
          </a:xfrm>
          <a:prstGeom prst="rect">
            <a:avLst/>
          </a:prstGeom>
        </p:spPr>
      </p:pic>
      <p:sp>
        <p:nvSpPr>
          <p:cNvPr id="24" name="step head 3"/>
          <p:cNvSpPr txBox="1"/>
          <p:nvPr/>
        </p:nvSpPr>
        <p:spPr>
          <a:xfrm>
            <a:off x="5276088" y="214884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status</a:t>
            </a:r>
            <a:endParaRPr lang="en-US" sz="1500" dirty="0"/>
          </a:p>
        </p:txBody>
      </p:sp>
      <p:sp>
        <p:nvSpPr>
          <p:cNvPr id="25" name="step text 3"/>
          <p:cNvSpPr txBox="1"/>
          <p:nvPr/>
        </p:nvSpPr>
        <p:spPr>
          <a:xfrm>
            <a:off x="5276088" y="244144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VmRSS = memory</a:t>
            </a:r>
            <a:endParaRPr lang="en-US" sz="1200" dirty="0"/>
          </a:p>
        </p:txBody>
      </p:sp>
      <p:sp>
        <p:nvSpPr>
          <p:cNvPr id="26" name="flow arrow"/>
          <p:cNvSpPr/>
          <p:nvPr/>
        </p:nvSpPr>
        <p:spPr>
          <a:xfrm>
            <a:off x="7132320" y="1965960"/>
            <a:ext cx="182880" cy="3200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7" name="step card 4"/>
          <p:cNvSpPr/>
          <p:nvPr/>
        </p:nvSpPr>
        <p:spPr>
          <a:xfrm>
            <a:off x="7365492" y="1463040"/>
            <a:ext cx="2002536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8" name="step 4 circle"/>
          <p:cNvSpPr/>
          <p:nvPr/>
        </p:nvSpPr>
        <p:spPr>
          <a:xfrm>
            <a:off x="7548372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step 4 icon" descr="ste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1709928"/>
            <a:ext cx="237744" cy="237744"/>
          </a:xfrm>
          <a:prstGeom prst="rect">
            <a:avLst/>
          </a:prstGeom>
        </p:spPr>
      </p:pic>
      <p:sp>
        <p:nvSpPr>
          <p:cNvPr id="30" name="step head 4"/>
          <p:cNvSpPr txBox="1"/>
          <p:nvPr/>
        </p:nvSpPr>
        <p:spPr>
          <a:xfrm>
            <a:off x="7548372" y="214884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Calculate</a:t>
            </a:r>
            <a:endParaRPr lang="en-US" sz="1500" dirty="0"/>
          </a:p>
        </p:txBody>
      </p:sp>
      <p:sp>
        <p:nvSpPr>
          <p:cNvPr id="31" name="step text 4"/>
          <p:cNvSpPr txBox="1"/>
          <p:nvPr/>
        </p:nvSpPr>
        <p:spPr>
          <a:xfrm>
            <a:off x="7548372" y="244144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CPU % per process</a:t>
            </a:r>
            <a:endParaRPr lang="en-US" sz="1200" dirty="0"/>
          </a:p>
        </p:txBody>
      </p:sp>
      <p:sp>
        <p:nvSpPr>
          <p:cNvPr id="32" name="flow arrow"/>
          <p:cNvSpPr/>
          <p:nvPr/>
        </p:nvSpPr>
        <p:spPr>
          <a:xfrm>
            <a:off x="9404604" y="1965960"/>
            <a:ext cx="182880" cy="3200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33" name="step card 5"/>
          <p:cNvSpPr/>
          <p:nvPr/>
        </p:nvSpPr>
        <p:spPr>
          <a:xfrm>
            <a:off x="9637776" y="1463040"/>
            <a:ext cx="2002536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34" name="step 5 circle"/>
          <p:cNvSpPr/>
          <p:nvPr/>
        </p:nvSpPr>
        <p:spPr>
          <a:xfrm>
            <a:off x="9820656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step 5 icon" descr="step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0384" y="1709928"/>
            <a:ext cx="237744" cy="237744"/>
          </a:xfrm>
          <a:prstGeom prst="rect">
            <a:avLst/>
          </a:prstGeom>
        </p:spPr>
      </p:pic>
      <p:sp>
        <p:nvSpPr>
          <p:cNvPr id="36" name="step head 5"/>
          <p:cNvSpPr txBox="1"/>
          <p:nvPr/>
        </p:nvSpPr>
        <p:spPr>
          <a:xfrm>
            <a:off x="9820656" y="214884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Store &amp; sort</a:t>
            </a:r>
            <a:endParaRPr lang="en-US" sz="1500" dirty="0"/>
          </a:p>
        </p:txBody>
      </p:sp>
      <p:sp>
        <p:nvSpPr>
          <p:cNvPr id="37" name="step text 5"/>
          <p:cNvSpPr txBox="1"/>
          <p:nvPr/>
        </p:nvSpPr>
        <p:spPr>
          <a:xfrm>
            <a:off x="9820656" y="244144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vector + std::sort</a:t>
            </a:r>
            <a:endParaRPr lang="en-US" sz="1200" dirty="0"/>
          </a:p>
        </p:txBody>
      </p:sp>
      <p:sp>
        <p:nvSpPr>
          <p:cNvPr id="38" name="day 3 code card"/>
          <p:cNvSpPr/>
          <p:nvPr/>
        </p:nvSpPr>
        <p:spPr>
          <a:xfrm>
            <a:off x="548640" y="3017520"/>
            <a:ext cx="6309360" cy="320040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/>
        </p:spPr>
      </p:sp>
      <p:sp>
        <p:nvSpPr>
          <p:cNvPr id="39" name="window dot 1"/>
          <p:cNvSpPr/>
          <p:nvPr/>
        </p:nvSpPr>
        <p:spPr>
          <a:xfrm>
            <a:off x="777240" y="320040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0" name="window dot 2"/>
          <p:cNvSpPr/>
          <p:nvPr/>
        </p:nvSpPr>
        <p:spPr>
          <a:xfrm>
            <a:off x="960120" y="320040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41" name="window dot 3"/>
          <p:cNvSpPr/>
          <p:nvPr/>
        </p:nvSpPr>
        <p:spPr>
          <a:xfrm>
            <a:off x="1143000" y="320040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42" name="day 3 code label"/>
          <p:cNvSpPr txBox="1"/>
          <p:nvPr/>
        </p:nvSpPr>
        <p:spPr>
          <a:xfrm>
            <a:off x="3931920" y="316382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1D6"/>
                </a:solidFill>
              </a:rPr>
              <a:t>Day 3  |  excerpt from day3.cpp</a:t>
            </a:r>
            <a:endParaRPr lang="en-US" sz="1000" dirty="0"/>
          </a:p>
        </p:txBody>
      </p:sp>
      <p:sp>
        <p:nvSpPr>
          <p:cNvPr id="43" name="day 3 code"/>
          <p:cNvSpPr txBox="1"/>
          <p:nvPr/>
        </p:nvSpPr>
        <p:spPr>
          <a:xfrm>
            <a:off x="822960" y="356616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Processinfo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std::string name;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cpuUsage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memoryUsage = 0;   </a:t>
            </a:r>
            <a:pPr indent="0" marL="0">
              <a:buNone/>
            </a:pPr>
            <a:r>
              <a:rPr lang="en-US" sz="1200" dirty="0">
                <a:solidFill>
                  <a:srgbClr val="8C9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VmRSS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std::vector&lt;Processinfo&gt; getAllprocess();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std::sort(processes.begin(), processes.end(),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[](</a:t>
            </a:r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Processinfo&amp; a, </a:t>
            </a:r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Processinfo&amp; b)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a.cpuUsage &gt; b.cpuUsage;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00" dirty="0"/>
          </a:p>
        </p:txBody>
      </p:sp>
      <p:sp>
        <p:nvSpPr>
          <p:cNvPr id="44" name="how it works card"/>
          <p:cNvSpPr/>
          <p:nvPr/>
        </p:nvSpPr>
        <p:spPr>
          <a:xfrm>
            <a:off x="7132320" y="3017520"/>
            <a:ext cx="4507992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5" name="how header"/>
          <p:cNvSpPr txBox="1"/>
          <p:nvPr/>
        </p:nvSpPr>
        <p:spPr>
          <a:xfrm>
            <a:off x="7406640" y="3246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46" name="how bullets"/>
          <p:cNvSpPr txBox="1"/>
          <p:nvPr/>
        </p:nvSpPr>
        <p:spPr>
          <a:xfrm>
            <a:off x="7406640" y="3703320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CPU %: (utime + stime) ÷ clock ticks per second, divided by process lifetime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Memory: VmRSS (resident set size) read from status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Sort: descending by CPU (set the flag to sort by memory)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Day 4 – Process Termination</a:t>
            </a:r>
            <a:endParaRPr lang="en-US" sz="3600" dirty="0"/>
          </a:p>
        </p:txBody>
      </p:sp>
      <p:sp>
        <p:nvSpPr>
          <p:cNvPr id="3" name="day label"/>
          <p:cNvSpPr txBox="1"/>
          <p:nvPr/>
        </p:nvSpPr>
        <p:spPr>
          <a:xfrm>
            <a:off x="10241280" y="45720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DAY 4 OF 5</a:t>
            </a:r>
            <a:endParaRPr lang="en-US" sz="1000" dirty="0"/>
          </a:p>
        </p:txBody>
      </p:sp>
      <p:sp>
        <p:nvSpPr>
          <p:cNvPr id="4" name="progress dot 1"/>
          <p:cNvSpPr/>
          <p:nvPr/>
        </p:nvSpPr>
        <p:spPr>
          <a:xfrm>
            <a:off x="10451592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rogress dot 2"/>
          <p:cNvSpPr/>
          <p:nvPr/>
        </p:nvSpPr>
        <p:spPr>
          <a:xfrm>
            <a:off x="10707624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rogress dot 3"/>
          <p:cNvSpPr/>
          <p:nvPr/>
        </p:nvSpPr>
        <p:spPr>
          <a:xfrm>
            <a:off x="10963656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 dot 4"/>
          <p:cNvSpPr/>
          <p:nvPr/>
        </p:nvSpPr>
        <p:spPr>
          <a:xfrm>
            <a:off x="11219688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 dot 5"/>
          <p:cNvSpPr/>
          <p:nvPr/>
        </p:nvSpPr>
        <p:spPr>
          <a:xfrm>
            <a:off x="11475720" y="749808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flow card 1"/>
          <p:cNvSpPr/>
          <p:nvPr/>
        </p:nvSpPr>
        <p:spPr>
          <a:xfrm>
            <a:off x="548640" y="146304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0" name="flow 1 circle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low 1 icon" descr="flow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12" name="flow text 1"/>
          <p:cNvSpPr txBox="1"/>
          <p:nvPr/>
        </p:nvSpPr>
        <p:spPr>
          <a:xfrm>
            <a:off x="1417320" y="1463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Display top processes</a:t>
            </a:r>
            <a:endParaRPr lang="en-US" sz="1500" dirty="0"/>
          </a:p>
        </p:txBody>
      </p:sp>
      <p:sp>
        <p:nvSpPr>
          <p:cNvPr id="13" name="flow arrow"/>
          <p:cNvSpPr/>
          <p:nvPr/>
        </p:nvSpPr>
        <p:spPr>
          <a:xfrm>
            <a:off x="3108960" y="1828800"/>
            <a:ext cx="228600" cy="4572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4" name="flow card 2"/>
          <p:cNvSpPr/>
          <p:nvPr/>
        </p:nvSpPr>
        <p:spPr>
          <a:xfrm>
            <a:off x="3422599" y="146304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5" name="flow 2 circle"/>
          <p:cNvSpPr/>
          <p:nvPr/>
        </p:nvSpPr>
        <p:spPr>
          <a:xfrm>
            <a:off x="3605479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low 2 icon" descr="flow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53" y="1914754"/>
            <a:ext cx="285293" cy="285293"/>
          </a:xfrm>
          <a:prstGeom prst="rect">
            <a:avLst/>
          </a:prstGeom>
        </p:spPr>
      </p:pic>
      <p:sp>
        <p:nvSpPr>
          <p:cNvPr id="17" name="flow text 2"/>
          <p:cNvSpPr txBox="1"/>
          <p:nvPr/>
        </p:nvSpPr>
        <p:spPr>
          <a:xfrm>
            <a:off x="4291279" y="1463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User enters a PID</a:t>
            </a:r>
            <a:endParaRPr lang="en-US" sz="1500" dirty="0"/>
          </a:p>
        </p:txBody>
      </p:sp>
      <p:sp>
        <p:nvSpPr>
          <p:cNvPr id="18" name="flow arrow"/>
          <p:cNvSpPr/>
          <p:nvPr/>
        </p:nvSpPr>
        <p:spPr>
          <a:xfrm>
            <a:off x="5982919" y="1828800"/>
            <a:ext cx="228600" cy="4572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9" name="flow card 3"/>
          <p:cNvSpPr/>
          <p:nvPr/>
        </p:nvSpPr>
        <p:spPr>
          <a:xfrm>
            <a:off x="6296558" y="146304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0" name="flow 3 circle"/>
          <p:cNvSpPr/>
          <p:nvPr/>
        </p:nvSpPr>
        <p:spPr>
          <a:xfrm>
            <a:off x="6479438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flow 3 icon" descr="flow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914754"/>
            <a:ext cx="285293" cy="285293"/>
          </a:xfrm>
          <a:prstGeom prst="rect">
            <a:avLst/>
          </a:prstGeom>
        </p:spPr>
      </p:pic>
      <p:sp>
        <p:nvSpPr>
          <p:cNvPr id="22" name="flow text 3"/>
          <p:cNvSpPr txBox="1"/>
          <p:nvPr/>
        </p:nvSpPr>
        <p:spPr>
          <a:xfrm>
            <a:off x="7165238" y="1463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kill(pid, SIGKILL)</a:t>
            </a:r>
            <a:endParaRPr lang="en-US" sz="1500" dirty="0"/>
          </a:p>
        </p:txBody>
      </p:sp>
      <p:sp>
        <p:nvSpPr>
          <p:cNvPr id="23" name="flow arrow"/>
          <p:cNvSpPr/>
          <p:nvPr/>
        </p:nvSpPr>
        <p:spPr>
          <a:xfrm>
            <a:off x="8856878" y="1828800"/>
            <a:ext cx="228600" cy="4572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4" name="flow card 4"/>
          <p:cNvSpPr/>
          <p:nvPr/>
        </p:nvSpPr>
        <p:spPr>
          <a:xfrm>
            <a:off x="9170518" y="146304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5" name="flow 4 circle"/>
          <p:cNvSpPr/>
          <p:nvPr/>
        </p:nvSpPr>
        <p:spPr>
          <a:xfrm>
            <a:off x="9353398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flow 4 icon" descr="flow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071" y="1914754"/>
            <a:ext cx="285293" cy="285293"/>
          </a:xfrm>
          <a:prstGeom prst="rect">
            <a:avLst/>
          </a:prstGeom>
        </p:spPr>
      </p:pic>
      <p:sp>
        <p:nvSpPr>
          <p:cNvPr id="27" name="flow text 4"/>
          <p:cNvSpPr txBox="1"/>
          <p:nvPr/>
        </p:nvSpPr>
        <p:spPr>
          <a:xfrm>
            <a:off x="10039198" y="1463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 the result</a:t>
            </a:r>
            <a:endParaRPr lang="en-US" sz="1500" dirty="0"/>
          </a:p>
        </p:txBody>
      </p:sp>
      <p:sp>
        <p:nvSpPr>
          <p:cNvPr id="28" name="day 4 code card"/>
          <p:cNvSpPr/>
          <p:nvPr/>
        </p:nvSpPr>
        <p:spPr>
          <a:xfrm>
            <a:off x="548640" y="3017520"/>
            <a:ext cx="6400800" cy="301752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</p:spPr>
      </p:sp>
      <p:sp>
        <p:nvSpPr>
          <p:cNvPr id="29" name="window dot 1"/>
          <p:cNvSpPr/>
          <p:nvPr/>
        </p:nvSpPr>
        <p:spPr>
          <a:xfrm>
            <a:off x="777240" y="320040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0" name="window dot 2"/>
          <p:cNvSpPr/>
          <p:nvPr/>
        </p:nvSpPr>
        <p:spPr>
          <a:xfrm>
            <a:off x="960120" y="320040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1" name="window dot 3"/>
          <p:cNvSpPr/>
          <p:nvPr/>
        </p:nvSpPr>
        <p:spPr>
          <a:xfrm>
            <a:off x="1143000" y="320040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2" name="day 4 code label"/>
          <p:cNvSpPr txBox="1"/>
          <p:nvPr/>
        </p:nvSpPr>
        <p:spPr>
          <a:xfrm>
            <a:off x="4023360" y="316382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1D6"/>
                </a:solidFill>
              </a:rPr>
              <a:t>Day 4  |  excerpt from day4.cpp</a:t>
            </a:r>
            <a:endParaRPr lang="en-US" sz="1000" dirty="0"/>
          </a:p>
        </p:txBody>
      </p:sp>
      <p:sp>
        <p:nvSpPr>
          <p:cNvPr id="33" name="day 4 code"/>
          <p:cNvSpPr txBox="1"/>
          <p:nvPr/>
        </p:nvSpPr>
        <p:spPr>
          <a:xfrm>
            <a:off x="822960" y="3566160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targetPid;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</a:t>
            </a:r>
            <a:pPr indent="0" marL="0"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pid to kill "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 &gt;&gt; targetPid;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(targetPid &gt; 0)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(kill(targetPid, SIGKILL) == 0)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</a:t>
            </a:r>
            <a:pPr indent="0" marL="0"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"Process "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targetPid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&lt;&lt; </a:t>
            </a:r>
            <a:pPr indent="0" marL="0"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terminated successfully"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</a:t>
            </a:r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perror(</a:t>
            </a:r>
            <a:pPr indent="0" marL="0"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"Failed to kill process"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4" name="sigkill card"/>
          <p:cNvSpPr/>
          <p:nvPr/>
        </p:nvSpPr>
        <p:spPr>
          <a:xfrm>
            <a:off x="7223760" y="3017520"/>
            <a:ext cx="4416552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35" name="caution circle"/>
          <p:cNvSpPr/>
          <p:nvPr/>
        </p:nvSpPr>
        <p:spPr>
          <a:xfrm>
            <a:off x="7498080" y="324612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6" name="caution icon" descr="cau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781" y="3366821"/>
            <a:ext cx="261518" cy="261518"/>
          </a:xfrm>
          <a:prstGeom prst="rect">
            <a:avLst/>
          </a:prstGeom>
        </p:spPr>
      </p:pic>
      <p:sp>
        <p:nvSpPr>
          <p:cNvPr id="37" name="sigkill header"/>
          <p:cNvSpPr txBox="1"/>
          <p:nvPr/>
        </p:nvSpPr>
        <p:spPr>
          <a:xfrm>
            <a:off x="8183880" y="3246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About SIGKILL</a:t>
            </a:r>
            <a:endParaRPr lang="en-US" sz="1800" dirty="0"/>
          </a:p>
        </p:txBody>
      </p:sp>
      <p:sp>
        <p:nvSpPr>
          <p:cNvPr id="38" name="sigkill points"/>
          <p:cNvSpPr txBox="1"/>
          <p:nvPr/>
        </p:nvSpPr>
        <p:spPr>
          <a:xfrm>
            <a:off x="7498080" y="39776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Signal 9: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cannot be caught or ignored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Permission: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own processes, or root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Return value: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0 on success, −1 with errno on failure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Day 5 – Continuous Monitoring</a:t>
            </a:r>
            <a:endParaRPr lang="en-US" sz="3600" dirty="0"/>
          </a:p>
        </p:txBody>
      </p:sp>
      <p:sp>
        <p:nvSpPr>
          <p:cNvPr id="3" name="day label"/>
          <p:cNvSpPr txBox="1"/>
          <p:nvPr/>
        </p:nvSpPr>
        <p:spPr>
          <a:xfrm>
            <a:off x="10241280" y="45720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DAY 5 OF 5</a:t>
            </a:r>
            <a:endParaRPr lang="en-US" sz="1000" dirty="0"/>
          </a:p>
        </p:txBody>
      </p:sp>
      <p:sp>
        <p:nvSpPr>
          <p:cNvPr id="4" name="progress dot 1"/>
          <p:cNvSpPr/>
          <p:nvPr/>
        </p:nvSpPr>
        <p:spPr>
          <a:xfrm>
            <a:off x="10451592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rogress dot 2"/>
          <p:cNvSpPr/>
          <p:nvPr/>
        </p:nvSpPr>
        <p:spPr>
          <a:xfrm>
            <a:off x="10707624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rogress dot 3"/>
          <p:cNvSpPr/>
          <p:nvPr/>
        </p:nvSpPr>
        <p:spPr>
          <a:xfrm>
            <a:off x="10963656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 dot 4"/>
          <p:cNvSpPr/>
          <p:nvPr/>
        </p:nvSpPr>
        <p:spPr>
          <a:xfrm>
            <a:off x="11219688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 dot 5"/>
          <p:cNvSpPr/>
          <p:nvPr/>
        </p:nvSpPr>
        <p:spPr>
          <a:xfrm>
            <a:off x="11475720" y="7498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loop card 1"/>
          <p:cNvSpPr/>
          <p:nvPr/>
        </p:nvSpPr>
        <p:spPr>
          <a:xfrm>
            <a:off x="548640" y="146304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loop 1 circle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loop 1 icon" descr="loo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869034"/>
            <a:ext cx="285293" cy="285293"/>
          </a:xfrm>
          <a:prstGeom prst="rect">
            <a:avLst/>
          </a:prstGeom>
        </p:spPr>
      </p:pic>
      <p:sp>
        <p:nvSpPr>
          <p:cNvPr id="12" name="loop text 1"/>
          <p:cNvSpPr txBox="1"/>
          <p:nvPr/>
        </p:nvSpPr>
        <p:spPr>
          <a:xfrm>
            <a:off x="1417320" y="1463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Refresh process list</a:t>
            </a:r>
            <a:endParaRPr lang="en-US" sz="1500" dirty="0"/>
          </a:p>
        </p:txBody>
      </p:sp>
      <p:sp>
        <p:nvSpPr>
          <p:cNvPr id="13" name="flow arrow"/>
          <p:cNvSpPr/>
          <p:nvPr/>
        </p:nvSpPr>
        <p:spPr>
          <a:xfrm>
            <a:off x="3108960" y="1828800"/>
            <a:ext cx="228600" cy="36576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4" name="loop card 2"/>
          <p:cNvSpPr/>
          <p:nvPr/>
        </p:nvSpPr>
        <p:spPr>
          <a:xfrm>
            <a:off x="3422599" y="146304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loop 2 circle"/>
          <p:cNvSpPr/>
          <p:nvPr/>
        </p:nvSpPr>
        <p:spPr>
          <a:xfrm>
            <a:off x="3605479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loop 2 icon" descr="loo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53" y="1869034"/>
            <a:ext cx="285293" cy="285293"/>
          </a:xfrm>
          <a:prstGeom prst="rect">
            <a:avLst/>
          </a:prstGeom>
        </p:spPr>
      </p:pic>
      <p:sp>
        <p:nvSpPr>
          <p:cNvPr id="17" name="loop text 2"/>
          <p:cNvSpPr txBox="1"/>
          <p:nvPr/>
        </p:nvSpPr>
        <p:spPr>
          <a:xfrm>
            <a:off x="4291279" y="1463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Show top 10 by CPU</a:t>
            </a:r>
            <a:endParaRPr lang="en-US" sz="1500" dirty="0"/>
          </a:p>
        </p:txBody>
      </p:sp>
      <p:sp>
        <p:nvSpPr>
          <p:cNvPr id="18" name="flow arrow"/>
          <p:cNvSpPr/>
          <p:nvPr/>
        </p:nvSpPr>
        <p:spPr>
          <a:xfrm>
            <a:off x="5982919" y="1828800"/>
            <a:ext cx="228600" cy="36576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9" name="loop card 3"/>
          <p:cNvSpPr/>
          <p:nvPr/>
        </p:nvSpPr>
        <p:spPr>
          <a:xfrm>
            <a:off x="6296558" y="146304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0" name="loop 3 circle"/>
          <p:cNvSpPr/>
          <p:nvPr/>
        </p:nvSpPr>
        <p:spPr>
          <a:xfrm>
            <a:off x="6479438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loop 3 icon" descr="loo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869034"/>
            <a:ext cx="285293" cy="285293"/>
          </a:xfrm>
          <a:prstGeom prst="rect">
            <a:avLst/>
          </a:prstGeom>
        </p:spPr>
      </p:pic>
      <p:sp>
        <p:nvSpPr>
          <p:cNvPr id="22" name="loop text 3"/>
          <p:cNvSpPr txBox="1"/>
          <p:nvPr/>
        </p:nvSpPr>
        <p:spPr>
          <a:xfrm>
            <a:off x="7165238" y="1463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Accept PID to kill</a:t>
            </a:r>
            <a:endParaRPr lang="en-US" sz="1500" dirty="0"/>
          </a:p>
        </p:txBody>
      </p:sp>
      <p:sp>
        <p:nvSpPr>
          <p:cNvPr id="23" name="flow arrow"/>
          <p:cNvSpPr/>
          <p:nvPr/>
        </p:nvSpPr>
        <p:spPr>
          <a:xfrm>
            <a:off x="8856878" y="1828800"/>
            <a:ext cx="228600" cy="36576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4" name="loop card 4"/>
          <p:cNvSpPr/>
          <p:nvPr/>
        </p:nvSpPr>
        <p:spPr>
          <a:xfrm>
            <a:off x="9170518" y="146304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5" name="loop 4 circle"/>
          <p:cNvSpPr/>
          <p:nvPr/>
        </p:nvSpPr>
        <p:spPr>
          <a:xfrm>
            <a:off x="9353398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loop 4 icon" descr="loo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071" y="1869034"/>
            <a:ext cx="285293" cy="285293"/>
          </a:xfrm>
          <a:prstGeom prst="rect">
            <a:avLst/>
          </a:prstGeom>
        </p:spPr>
      </p:pic>
      <p:sp>
        <p:nvSpPr>
          <p:cNvPr id="27" name="loop text 4"/>
          <p:cNvSpPr txBox="1"/>
          <p:nvPr/>
        </p:nvSpPr>
        <p:spPr>
          <a:xfrm>
            <a:off x="10039198" y="1463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Enter or q, then wait 2 s</a:t>
            </a:r>
            <a:endParaRPr lang="en-US" sz="1500" dirty="0"/>
          </a:p>
        </p:txBody>
      </p:sp>
      <p:sp>
        <p:nvSpPr>
          <p:cNvPr id="28" name="return line down"/>
          <p:cNvSpPr/>
          <p:nvPr/>
        </p:nvSpPr>
        <p:spPr>
          <a:xfrm>
            <a:off x="10404958" y="2560320"/>
            <a:ext cx="0" cy="2743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29" name="return line across"/>
          <p:cNvSpPr/>
          <p:nvPr/>
        </p:nvSpPr>
        <p:spPr>
          <a:xfrm>
            <a:off x="1783080" y="2834640"/>
            <a:ext cx="8621878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30" name="return line up"/>
          <p:cNvSpPr/>
          <p:nvPr/>
        </p:nvSpPr>
        <p:spPr>
          <a:xfrm flipV="1">
            <a:off x="1783080" y="2560320"/>
            <a:ext cx="0" cy="2743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1" name="loop caption"/>
          <p:cNvSpPr txBox="1"/>
          <p:nvPr/>
        </p:nvSpPr>
        <p:spPr>
          <a:xfrm>
            <a:off x="2697480" y="2907792"/>
            <a:ext cx="67930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Repeats until q is pressed</a:t>
            </a:r>
            <a:endParaRPr lang="en-US" sz="1300" dirty="0"/>
          </a:p>
        </p:txBody>
      </p:sp>
      <p:sp>
        <p:nvSpPr>
          <p:cNvPr id="32" name="key card 1"/>
          <p:cNvSpPr/>
          <p:nvPr/>
        </p:nvSpPr>
        <p:spPr>
          <a:xfrm>
            <a:off x="548640" y="3611880"/>
            <a:ext cx="2011680" cy="2423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3" name="keycap 1"/>
          <p:cNvSpPr/>
          <p:nvPr/>
        </p:nvSpPr>
        <p:spPr>
          <a:xfrm>
            <a:off x="960120" y="3840480"/>
            <a:ext cx="1188720" cy="731520"/>
          </a:xfrm>
          <a:prstGeom prst="roundRect">
            <a:avLst>
              <a:gd name="adj" fmla="val 17500"/>
            </a:avLst>
          </a:prstGeom>
          <a:solidFill>
            <a:schemeClr val="tx1"/>
          </a:solidFill>
          <a:ln/>
        </p:spPr>
      </p:sp>
      <p:sp>
        <p:nvSpPr>
          <p:cNvPr id="34" name="keycap text 1"/>
          <p:cNvSpPr txBox="1"/>
          <p:nvPr/>
        </p:nvSpPr>
        <p:spPr>
          <a:xfrm>
            <a:off x="960120" y="38404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endParaRPr lang="en-US" sz="2000" dirty="0"/>
          </a:p>
        </p:txBody>
      </p:sp>
      <p:sp>
        <p:nvSpPr>
          <p:cNvPr id="35" name="key text 1"/>
          <p:cNvSpPr txBox="1"/>
          <p:nvPr/>
        </p:nvSpPr>
        <p:spPr>
          <a:xfrm>
            <a:off x="685800" y="4846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Terminate that process</a:t>
            </a:r>
            <a:endParaRPr lang="en-US" sz="1500" dirty="0"/>
          </a:p>
        </p:txBody>
      </p:sp>
      <p:sp>
        <p:nvSpPr>
          <p:cNvPr id="36" name="key card 2"/>
          <p:cNvSpPr/>
          <p:nvPr/>
        </p:nvSpPr>
        <p:spPr>
          <a:xfrm>
            <a:off x="2834640" y="3611880"/>
            <a:ext cx="2011680" cy="2423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7" name="keycap 2"/>
          <p:cNvSpPr/>
          <p:nvPr/>
        </p:nvSpPr>
        <p:spPr>
          <a:xfrm>
            <a:off x="3246120" y="3840480"/>
            <a:ext cx="1188720" cy="731520"/>
          </a:xfrm>
          <a:prstGeom prst="roundRect">
            <a:avLst>
              <a:gd name="adj" fmla="val 17500"/>
            </a:avLst>
          </a:prstGeom>
          <a:solidFill>
            <a:schemeClr val="tx1"/>
          </a:solidFill>
          <a:ln/>
        </p:spPr>
      </p:sp>
      <p:sp>
        <p:nvSpPr>
          <p:cNvPr id="38" name="keycap text 2"/>
          <p:cNvSpPr txBox="1"/>
          <p:nvPr/>
        </p:nvSpPr>
        <p:spPr>
          <a:xfrm>
            <a:off x="3246120" y="38404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</a:t>
            </a:r>
            <a:endParaRPr lang="en-US" sz="2000" dirty="0"/>
          </a:p>
        </p:txBody>
      </p:sp>
      <p:sp>
        <p:nvSpPr>
          <p:cNvPr id="39" name="key text 2"/>
          <p:cNvSpPr txBox="1"/>
          <p:nvPr/>
        </p:nvSpPr>
        <p:spPr>
          <a:xfrm>
            <a:off x="2971800" y="4846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Refresh immediately</a:t>
            </a:r>
            <a:endParaRPr lang="en-US" sz="1500" dirty="0"/>
          </a:p>
        </p:txBody>
      </p:sp>
      <p:sp>
        <p:nvSpPr>
          <p:cNvPr id="40" name="key card 3"/>
          <p:cNvSpPr/>
          <p:nvPr/>
        </p:nvSpPr>
        <p:spPr>
          <a:xfrm>
            <a:off x="5120640" y="3611880"/>
            <a:ext cx="2011680" cy="2423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1" name="keycap 3"/>
          <p:cNvSpPr/>
          <p:nvPr/>
        </p:nvSpPr>
        <p:spPr>
          <a:xfrm>
            <a:off x="5532120" y="3840480"/>
            <a:ext cx="1188720" cy="731520"/>
          </a:xfrm>
          <a:prstGeom prst="roundRect">
            <a:avLst>
              <a:gd name="adj" fmla="val 17500"/>
            </a:avLst>
          </a:prstGeom>
          <a:solidFill>
            <a:schemeClr val="tx1"/>
          </a:solidFill>
          <a:ln/>
        </p:spPr>
      </p:sp>
      <p:sp>
        <p:nvSpPr>
          <p:cNvPr id="42" name="keycap text 3"/>
          <p:cNvSpPr txBox="1"/>
          <p:nvPr/>
        </p:nvSpPr>
        <p:spPr>
          <a:xfrm>
            <a:off x="5532120" y="38404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2000" dirty="0"/>
          </a:p>
        </p:txBody>
      </p:sp>
      <p:sp>
        <p:nvSpPr>
          <p:cNvPr id="43" name="key text 3"/>
          <p:cNvSpPr txBox="1"/>
          <p:nvPr/>
        </p:nvSpPr>
        <p:spPr>
          <a:xfrm>
            <a:off x="5257800" y="4846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Quit the monitor</a:t>
            </a:r>
            <a:endParaRPr lang="en-US" sz="1500" dirty="0"/>
          </a:p>
        </p:txBody>
      </p:sp>
      <p:sp>
        <p:nvSpPr>
          <p:cNvPr id="44" name="day 5 code card"/>
          <p:cNvSpPr/>
          <p:nvPr/>
        </p:nvSpPr>
        <p:spPr>
          <a:xfrm>
            <a:off x="7406640" y="3611880"/>
            <a:ext cx="4233672" cy="2423160"/>
          </a:xfrm>
          <a:prstGeom prst="roundRect">
            <a:avLst>
              <a:gd name="adj" fmla="val 4528"/>
            </a:avLst>
          </a:prstGeom>
          <a:solidFill>
            <a:schemeClr val="tx1"/>
          </a:solidFill>
          <a:ln/>
        </p:spPr>
      </p:sp>
      <p:sp>
        <p:nvSpPr>
          <p:cNvPr id="45" name="window dot 1"/>
          <p:cNvSpPr/>
          <p:nvPr/>
        </p:nvSpPr>
        <p:spPr>
          <a:xfrm>
            <a:off x="7635240" y="379476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6" name="window dot 2"/>
          <p:cNvSpPr/>
          <p:nvPr/>
        </p:nvSpPr>
        <p:spPr>
          <a:xfrm>
            <a:off x="7818120" y="379476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47" name="window dot 3"/>
          <p:cNvSpPr/>
          <p:nvPr/>
        </p:nvSpPr>
        <p:spPr>
          <a:xfrm>
            <a:off x="8001000" y="379476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48" name="day 5 code label"/>
          <p:cNvSpPr txBox="1"/>
          <p:nvPr/>
        </p:nvSpPr>
        <p:spPr>
          <a:xfrm>
            <a:off x="8714232" y="37581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1D6"/>
                </a:solidFill>
              </a:rPr>
              <a:t>Day 5  |  excerpt from day5.cpp</a:t>
            </a:r>
            <a:endParaRPr lang="en-US" sz="1000" dirty="0"/>
          </a:p>
        </p:txBody>
      </p:sp>
      <p:sp>
        <p:nvSpPr>
          <p:cNvPr id="49" name="day 5 code"/>
          <p:cNvSpPr txBox="1"/>
          <p:nvPr/>
        </p:nvSpPr>
        <p:spPr>
          <a:xfrm>
            <a:off x="7680960" y="4160520"/>
            <a:ext cx="36850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system(</a:t>
            </a:r>
            <a:pPr indent="0" marL="0">
              <a:buNone/>
            </a:pPr>
            <a:r>
              <a:rPr lang="en-US" sz="1200" dirty="0">
                <a:solidFill>
                  <a:srgbClr val="F5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"clear"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getAllprocess();  sortProcesses();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8C9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 top 10, ask PID, kill()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= getchar();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(input == 'q' || input == 'Q')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sleep_for(seconds(2));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Ubuntu Execution Screenshots</a:t>
            </a:r>
            <a:endParaRPr lang="en-US" sz="3600" dirty="0"/>
          </a:p>
        </p:txBody>
      </p:sp>
      <p:pic>
        <p:nvPicPr>
          <p:cNvPr id="3" name="day1 screenshot" descr="Ubuntu terminal output for Day 1  |  Memory monito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531721" cy="1807128"/>
          </a:xfrm>
          <a:prstGeom prst="rect">
            <a:avLst/>
          </a:prstGeom>
        </p:spPr>
      </p:pic>
      <p:sp>
        <p:nvSpPr>
          <p:cNvPr id="4" name="day1 border"/>
          <p:cNvSpPr/>
          <p:nvPr/>
        </p:nvSpPr>
        <p:spPr>
          <a:xfrm>
            <a:off x="548640" y="1371600"/>
            <a:ext cx="4531721" cy="1807128"/>
          </a:xfrm>
          <a:prstGeom prst="rect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5" name="day1 caption"/>
          <p:cNvSpPr txBox="1"/>
          <p:nvPr/>
        </p:nvSpPr>
        <p:spPr>
          <a:xfrm>
            <a:off x="548640" y="3233592"/>
            <a:ext cx="4531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Day 1  |  Memory monitoring</a:t>
            </a:r>
            <a:endParaRPr lang="en-US" sz="1300" dirty="0"/>
          </a:p>
        </p:txBody>
      </p:sp>
      <p:pic>
        <p:nvPicPr>
          <p:cNvPr id="6" name="day2 screenshot" descr="Ubuntu terminal output for Day 2  |  CPU statist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681" y="1371600"/>
            <a:ext cx="2792056" cy="1807128"/>
          </a:xfrm>
          <a:prstGeom prst="rect">
            <a:avLst/>
          </a:prstGeom>
        </p:spPr>
      </p:pic>
      <p:sp>
        <p:nvSpPr>
          <p:cNvPr id="7" name="day2 border"/>
          <p:cNvSpPr/>
          <p:nvPr/>
        </p:nvSpPr>
        <p:spPr>
          <a:xfrm>
            <a:off x="5354681" y="1371600"/>
            <a:ext cx="2792056" cy="1807128"/>
          </a:xfrm>
          <a:prstGeom prst="rect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8" name="day2 caption"/>
          <p:cNvSpPr txBox="1"/>
          <p:nvPr/>
        </p:nvSpPr>
        <p:spPr>
          <a:xfrm>
            <a:off x="5354681" y="3233592"/>
            <a:ext cx="27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Day 2  |  CPU statistics</a:t>
            </a:r>
            <a:endParaRPr lang="en-US" sz="1300" dirty="0"/>
          </a:p>
        </p:txBody>
      </p:sp>
      <p:pic>
        <p:nvPicPr>
          <p:cNvPr id="9" name="day3 screenshot" descr="Ubuntu terminal output for Day 3  |  Active process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057" y="1371600"/>
            <a:ext cx="3219255" cy="1807128"/>
          </a:xfrm>
          <a:prstGeom prst="rect">
            <a:avLst/>
          </a:prstGeom>
        </p:spPr>
      </p:pic>
      <p:sp>
        <p:nvSpPr>
          <p:cNvPr id="10" name="day3 border"/>
          <p:cNvSpPr/>
          <p:nvPr/>
        </p:nvSpPr>
        <p:spPr>
          <a:xfrm>
            <a:off x="8421057" y="1371600"/>
            <a:ext cx="3219255" cy="1807128"/>
          </a:xfrm>
          <a:prstGeom prst="rect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11" name="day3 caption"/>
          <p:cNvSpPr txBox="1"/>
          <p:nvPr/>
        </p:nvSpPr>
        <p:spPr>
          <a:xfrm>
            <a:off x="8421057" y="3233592"/>
            <a:ext cx="321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Day 3  |  Active processes</a:t>
            </a:r>
            <a:endParaRPr lang="en-US" sz="1300" dirty="0"/>
          </a:p>
        </p:txBody>
      </p:sp>
      <p:pic>
        <p:nvPicPr>
          <p:cNvPr id="12" name="day4 screenshot" descr="Ubuntu terminal output for Day 4  |  Kill by PI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35928"/>
            <a:ext cx="2987734" cy="2011680"/>
          </a:xfrm>
          <a:prstGeom prst="rect">
            <a:avLst/>
          </a:prstGeom>
        </p:spPr>
      </p:pic>
      <p:sp>
        <p:nvSpPr>
          <p:cNvPr id="13" name="day4 border"/>
          <p:cNvSpPr/>
          <p:nvPr/>
        </p:nvSpPr>
        <p:spPr>
          <a:xfrm>
            <a:off x="548640" y="3635928"/>
            <a:ext cx="2987734" cy="2011680"/>
          </a:xfrm>
          <a:prstGeom prst="rect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14" name="day4 caption"/>
          <p:cNvSpPr txBox="1"/>
          <p:nvPr/>
        </p:nvSpPr>
        <p:spPr>
          <a:xfrm>
            <a:off x="548640" y="5702472"/>
            <a:ext cx="29877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Day 4  |  Kill by PID</a:t>
            </a:r>
            <a:endParaRPr lang="en-US" sz="1300" dirty="0"/>
          </a:p>
        </p:txBody>
      </p:sp>
      <p:pic>
        <p:nvPicPr>
          <p:cNvPr id="15" name="day5 screenshot" descr="Ubuntu terminal output for Day 5  |  Continuous monit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694" y="3635928"/>
            <a:ext cx="3108093" cy="2011680"/>
          </a:xfrm>
          <a:prstGeom prst="rect">
            <a:avLst/>
          </a:prstGeom>
        </p:spPr>
      </p:pic>
      <p:sp>
        <p:nvSpPr>
          <p:cNvPr id="16" name="day5 border"/>
          <p:cNvSpPr/>
          <p:nvPr/>
        </p:nvSpPr>
        <p:spPr>
          <a:xfrm>
            <a:off x="3810694" y="3635928"/>
            <a:ext cx="3108093" cy="2011680"/>
          </a:xfrm>
          <a:prstGeom prst="rect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17" name="day5 caption"/>
          <p:cNvSpPr txBox="1"/>
          <p:nvPr/>
        </p:nvSpPr>
        <p:spPr>
          <a:xfrm>
            <a:off x="3810694" y="5702472"/>
            <a:ext cx="3108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Day 5  |  Continuous monitor</a:t>
            </a:r>
            <a:endParaRPr lang="en-US" sz="1300" dirty="0"/>
          </a:p>
        </p:txBody>
      </p:sp>
      <p:sp>
        <p:nvSpPr>
          <p:cNvPr id="18" name="observations card"/>
          <p:cNvSpPr/>
          <p:nvPr/>
        </p:nvSpPr>
        <p:spPr>
          <a:xfrm>
            <a:off x="7193108" y="3635928"/>
            <a:ext cx="4447204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observations header"/>
          <p:cNvSpPr txBox="1"/>
          <p:nvPr/>
        </p:nvSpPr>
        <p:spPr>
          <a:xfrm>
            <a:off x="7467428" y="3818808"/>
            <a:ext cx="3898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the runs show</a:t>
            </a:r>
            <a:endParaRPr lang="en-US" sz="1600" dirty="0"/>
          </a:p>
        </p:txBody>
      </p:sp>
      <p:sp>
        <p:nvSpPr>
          <p:cNvPr id="20" name="observations bullets"/>
          <p:cNvSpPr txBox="1"/>
          <p:nvPr/>
        </p:nvSpPr>
        <p:spPr>
          <a:xfrm>
            <a:off x="7467428" y="4230288"/>
            <a:ext cx="3898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Day 1: total and unused RAM in MB / GB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Day 2: raw /proc/stat counters and totals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Days 3–5: top 10 processes, kill by PID, q to quit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Technologies Used</a:t>
            </a:r>
            <a:endParaRPr lang="en-US" sz="3600" dirty="0"/>
          </a:p>
        </p:txBody>
      </p:sp>
      <p:sp>
        <p:nvSpPr>
          <p:cNvPr id="3" name="tech column 1"/>
          <p:cNvSpPr/>
          <p:nvPr/>
        </p:nvSpPr>
        <p:spPr>
          <a:xfrm>
            <a:off x="548640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Platform &amp; Language 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latform &amp; Language icon" descr="Platform &amp; Langu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823314"/>
            <a:ext cx="285293" cy="285293"/>
          </a:xfrm>
          <a:prstGeom prst="rect">
            <a:avLst/>
          </a:prstGeom>
        </p:spPr>
      </p:pic>
      <p:sp>
        <p:nvSpPr>
          <p:cNvPr id="6" name="tech head 1"/>
          <p:cNvSpPr txBox="1"/>
          <p:nvPr/>
        </p:nvSpPr>
        <p:spPr>
          <a:xfrm>
            <a:off x="155448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Platform &amp; Language</a:t>
            </a:r>
            <a:endParaRPr lang="en-US" sz="1800" dirty="0"/>
          </a:p>
        </p:txBody>
      </p:sp>
      <p:sp>
        <p:nvSpPr>
          <p:cNvPr id="7" name="tech item 1.1"/>
          <p:cNvSpPr txBox="1"/>
          <p:nvPr/>
        </p:nvSpPr>
        <p:spPr>
          <a:xfrm>
            <a:off x="868680" y="2514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C++17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Language standard for the whole tool</a:t>
            </a:r>
            <a:endParaRPr lang="en-US" sz="1400" dirty="0"/>
          </a:p>
        </p:txBody>
      </p:sp>
      <p:sp>
        <p:nvSpPr>
          <p:cNvPr id="8" name="tech item 1.2"/>
          <p:cNvSpPr txBox="1"/>
          <p:nvPr/>
        </p:nvSpPr>
        <p:spPr>
          <a:xfrm>
            <a:off x="868680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Linux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Development and runtime environment</a:t>
            </a:r>
            <a:endParaRPr lang="en-US" sz="1400" dirty="0"/>
          </a:p>
        </p:txBody>
      </p:sp>
      <p:sp>
        <p:nvSpPr>
          <p:cNvPr id="9" name="tech item 1.3"/>
          <p:cNvSpPr txBox="1"/>
          <p:nvPr/>
        </p:nvSpPr>
        <p:spPr>
          <a:xfrm>
            <a:off x="868680" y="3886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 filesystem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Kernel data exposed as files</a:t>
            </a:r>
            <a:endParaRPr lang="en-US" sz="1400" dirty="0"/>
          </a:p>
        </p:txBody>
      </p:sp>
      <p:sp>
        <p:nvSpPr>
          <p:cNvPr id="10" name="tech column 2"/>
          <p:cNvSpPr/>
          <p:nvPr/>
        </p:nvSpPr>
        <p:spPr>
          <a:xfrm>
            <a:off x="4311396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1" name="POSIX / System APIs circle"/>
          <p:cNvSpPr/>
          <p:nvPr/>
        </p:nvSpPr>
        <p:spPr>
          <a:xfrm>
            <a:off x="4585716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POSIX / System APIs icon" descr="POSIX / System AP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390" y="1823314"/>
            <a:ext cx="285293" cy="285293"/>
          </a:xfrm>
          <a:prstGeom prst="rect">
            <a:avLst/>
          </a:prstGeom>
        </p:spPr>
      </p:pic>
      <p:sp>
        <p:nvSpPr>
          <p:cNvPr id="13" name="tech head 2"/>
          <p:cNvSpPr txBox="1"/>
          <p:nvPr/>
        </p:nvSpPr>
        <p:spPr>
          <a:xfrm>
            <a:off x="5317236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POSIX / System APIs</a:t>
            </a:r>
            <a:endParaRPr lang="en-US" sz="1800" dirty="0"/>
          </a:p>
        </p:txBody>
      </p:sp>
      <p:sp>
        <p:nvSpPr>
          <p:cNvPr id="14" name="tech item 2.1"/>
          <p:cNvSpPr txBox="1"/>
          <p:nvPr/>
        </p:nvSpPr>
        <p:spPr>
          <a:xfrm>
            <a:off x="4631436" y="2514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POSIX APIs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Portable OS-level interfaces</a:t>
            </a:r>
            <a:endParaRPr lang="en-US" sz="1400" dirty="0"/>
          </a:p>
        </p:txBody>
      </p:sp>
      <p:sp>
        <p:nvSpPr>
          <p:cNvPr id="15" name="tech item 2.2"/>
          <p:cNvSpPr txBox="1"/>
          <p:nvPr/>
        </p:nvSpPr>
        <p:spPr>
          <a:xfrm>
            <a:off x="4631436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sysconf()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Clock ticks per second</a:t>
            </a:r>
            <a:endParaRPr lang="en-US" sz="1400" dirty="0"/>
          </a:p>
        </p:txBody>
      </p:sp>
      <p:sp>
        <p:nvSpPr>
          <p:cNvPr id="16" name="tech item 2.3"/>
          <p:cNvSpPr txBox="1"/>
          <p:nvPr/>
        </p:nvSpPr>
        <p:spPr>
          <a:xfrm>
            <a:off x="4631436" y="3886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Send a signal to a process</a:t>
            </a:r>
            <a:endParaRPr lang="en-US" sz="1400" dirty="0"/>
          </a:p>
        </p:txBody>
      </p:sp>
      <p:sp>
        <p:nvSpPr>
          <p:cNvPr id="17" name="tech item 2.4"/>
          <p:cNvSpPr txBox="1"/>
          <p:nvPr/>
        </p:nvSpPr>
        <p:spPr>
          <a:xfrm>
            <a:off x="4631436" y="4572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SIGKILL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Force-terminates (signal 9)</a:t>
            </a:r>
            <a:endParaRPr lang="en-US" sz="1400" dirty="0"/>
          </a:p>
        </p:txBody>
      </p:sp>
      <p:sp>
        <p:nvSpPr>
          <p:cNvPr id="18" name="tech column 3"/>
          <p:cNvSpPr/>
          <p:nvPr/>
        </p:nvSpPr>
        <p:spPr>
          <a:xfrm>
            <a:off x="8074152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9" name="C++ Standard Library circle"/>
          <p:cNvSpPr/>
          <p:nvPr/>
        </p:nvSpPr>
        <p:spPr>
          <a:xfrm>
            <a:off x="8348472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C++ Standard Library icon" descr="C++ Standard Libra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146" y="1823314"/>
            <a:ext cx="285293" cy="285293"/>
          </a:xfrm>
          <a:prstGeom prst="rect">
            <a:avLst/>
          </a:prstGeom>
        </p:spPr>
      </p:pic>
      <p:sp>
        <p:nvSpPr>
          <p:cNvPr id="21" name="tech head 3"/>
          <p:cNvSpPr txBox="1"/>
          <p:nvPr/>
        </p:nvSpPr>
        <p:spPr>
          <a:xfrm>
            <a:off x="9079992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C++ Standard Library</a:t>
            </a:r>
            <a:endParaRPr lang="en-US" sz="1800" dirty="0"/>
          </a:p>
        </p:txBody>
      </p:sp>
      <p:sp>
        <p:nvSpPr>
          <p:cNvPr id="22" name="tech item 3.1"/>
          <p:cNvSpPr txBox="1"/>
          <p:nvPr/>
        </p:nvSpPr>
        <p:spPr>
          <a:xfrm>
            <a:off x="8394192" y="2514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Stores the process list</a:t>
            </a:r>
            <a:endParaRPr lang="en-US" sz="1400" dirty="0"/>
          </a:p>
        </p:txBody>
      </p:sp>
      <p:sp>
        <p:nvSpPr>
          <p:cNvPr id="23" name="tech item 3.2"/>
          <p:cNvSpPr txBox="1"/>
          <p:nvPr/>
        </p:nvSpPr>
        <p:spPr>
          <a:xfrm>
            <a:off x="8394192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std::sort by CPU or memory</a:t>
            </a:r>
            <a:endParaRPr lang="en-US" sz="1400" dirty="0"/>
          </a:p>
        </p:txBody>
      </p:sp>
      <p:sp>
        <p:nvSpPr>
          <p:cNvPr id="24" name="tech item 3.3"/>
          <p:cNvSpPr txBox="1"/>
          <p:nvPr/>
        </p:nvSpPr>
        <p:spPr>
          <a:xfrm>
            <a:off x="8394192" y="3886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Iterate numeric /proc folders</a:t>
            </a:r>
            <a:endParaRPr lang="en-US" sz="1400" dirty="0"/>
          </a:p>
        </p:txBody>
      </p:sp>
      <p:sp>
        <p:nvSpPr>
          <p:cNvPr id="25" name="tech item 3.4"/>
          <p:cNvSpPr txBox="1"/>
          <p:nvPr/>
        </p:nvSpPr>
        <p:spPr>
          <a:xfrm>
            <a:off x="8394192" y="4572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ifstream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/proc files</a:t>
            </a:r>
            <a:endParaRPr lang="en-US" sz="1400" dirty="0"/>
          </a:p>
        </p:txBody>
      </p:sp>
      <p:sp>
        <p:nvSpPr>
          <p:cNvPr id="26" name="tech item 3.5"/>
          <p:cNvSpPr txBox="1"/>
          <p:nvPr/>
        </p:nvSpPr>
        <p:spPr>
          <a:xfrm>
            <a:off x="8394192" y="5257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stringstream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Parse fields from each 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Learning Outcomes</a:t>
            </a:r>
            <a:endParaRPr lang="en-US" sz="3600" dirty="0"/>
          </a:p>
        </p:txBody>
      </p:sp>
      <p:sp>
        <p:nvSpPr>
          <p:cNvPr id="3" name="outcome card 1"/>
          <p:cNvSpPr/>
          <p:nvPr/>
        </p:nvSpPr>
        <p:spPr>
          <a:xfrm>
            <a:off x="548640" y="146304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Linux internals circle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inux internals icon" descr="Linux intern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880006"/>
            <a:ext cx="309067" cy="309067"/>
          </a:xfrm>
          <a:prstGeom prst="rect">
            <a:avLst/>
          </a:prstGeom>
        </p:spPr>
      </p:pic>
      <p:sp>
        <p:nvSpPr>
          <p:cNvPr id="6" name="outcome head 1"/>
          <p:cNvSpPr txBox="1"/>
          <p:nvPr/>
        </p:nvSpPr>
        <p:spPr>
          <a:xfrm>
            <a:off x="1600200" y="1737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Linux internals</a:t>
            </a:r>
            <a:endParaRPr lang="en-US" sz="1800" dirty="0"/>
          </a:p>
        </p:txBody>
      </p:sp>
      <p:sp>
        <p:nvSpPr>
          <p:cNvPr id="7" name="outcome text 1"/>
          <p:cNvSpPr txBox="1"/>
          <p:nvPr/>
        </p:nvSpPr>
        <p:spPr>
          <a:xfrm>
            <a:off x="822960" y="2514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 live kernel data from /proc: memory, CPU and per-process statistics.</a:t>
            </a:r>
            <a:endParaRPr lang="en-US" sz="1400" dirty="0"/>
          </a:p>
        </p:txBody>
      </p:sp>
      <p:sp>
        <p:nvSpPr>
          <p:cNvPr id="8" name="outcome card 2"/>
          <p:cNvSpPr/>
          <p:nvPr/>
        </p:nvSpPr>
        <p:spPr>
          <a:xfrm>
            <a:off x="4311396" y="146304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System programming circle"/>
          <p:cNvSpPr/>
          <p:nvPr/>
        </p:nvSpPr>
        <p:spPr>
          <a:xfrm>
            <a:off x="4585716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System programming icon" descr="System programm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362" y="1880006"/>
            <a:ext cx="309067" cy="309067"/>
          </a:xfrm>
          <a:prstGeom prst="rect">
            <a:avLst/>
          </a:prstGeom>
        </p:spPr>
      </p:pic>
      <p:sp>
        <p:nvSpPr>
          <p:cNvPr id="11" name="outcome head 2"/>
          <p:cNvSpPr txBox="1"/>
          <p:nvPr/>
        </p:nvSpPr>
        <p:spPr>
          <a:xfrm>
            <a:off x="5362956" y="1737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System programming</a:t>
            </a:r>
            <a:endParaRPr lang="en-US" sz="1800" dirty="0"/>
          </a:p>
        </p:txBody>
      </p:sp>
      <p:sp>
        <p:nvSpPr>
          <p:cNvPr id="12" name="outcome text 2"/>
          <p:cNvSpPr txBox="1"/>
          <p:nvPr/>
        </p:nvSpPr>
        <p:spPr>
          <a:xfrm>
            <a:off x="4585716" y="2514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Used POSIX calls such as sysinfo(), sysconf() and kill().</a:t>
            </a:r>
            <a:endParaRPr lang="en-US" sz="1400" dirty="0"/>
          </a:p>
        </p:txBody>
      </p:sp>
      <p:sp>
        <p:nvSpPr>
          <p:cNvPr id="13" name="outcome card 3"/>
          <p:cNvSpPr/>
          <p:nvPr/>
        </p:nvSpPr>
        <p:spPr>
          <a:xfrm>
            <a:off x="8074152" y="146304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Modern C++17 circle"/>
          <p:cNvSpPr/>
          <p:nvPr/>
        </p:nvSpPr>
        <p:spPr>
          <a:xfrm>
            <a:off x="8348472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Modern C++17 icon" descr="Modern C++17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118" y="1880006"/>
            <a:ext cx="309067" cy="309067"/>
          </a:xfrm>
          <a:prstGeom prst="rect">
            <a:avLst/>
          </a:prstGeom>
        </p:spPr>
      </p:pic>
      <p:sp>
        <p:nvSpPr>
          <p:cNvPr id="16" name="outcome head 3"/>
          <p:cNvSpPr txBox="1"/>
          <p:nvPr/>
        </p:nvSpPr>
        <p:spPr>
          <a:xfrm>
            <a:off x="9125712" y="1737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Modern C++17</a:t>
            </a:r>
            <a:endParaRPr lang="en-US" sz="1800" dirty="0"/>
          </a:p>
        </p:txBody>
      </p:sp>
      <p:sp>
        <p:nvSpPr>
          <p:cNvPr id="17" name="outcome text 3"/>
          <p:cNvSpPr txBox="1"/>
          <p:nvPr/>
        </p:nvSpPr>
        <p:spPr>
          <a:xfrm>
            <a:off x="8348472" y="2514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Applied vector, algorithm, filesystem and stream classes.</a:t>
            </a:r>
            <a:endParaRPr lang="en-US" sz="1400" dirty="0"/>
          </a:p>
        </p:txBody>
      </p:sp>
      <p:sp>
        <p:nvSpPr>
          <p:cNvPr id="18" name="outcome card 4"/>
          <p:cNvSpPr/>
          <p:nvPr/>
        </p:nvSpPr>
        <p:spPr>
          <a:xfrm>
            <a:off x="548640" y="379476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Process management circle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Process management icon" descr="Process manage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211726"/>
            <a:ext cx="309067" cy="309067"/>
          </a:xfrm>
          <a:prstGeom prst="rect">
            <a:avLst/>
          </a:prstGeom>
        </p:spPr>
      </p:pic>
      <p:sp>
        <p:nvSpPr>
          <p:cNvPr id="21" name="outcome head 4"/>
          <p:cNvSpPr txBox="1"/>
          <p:nvPr/>
        </p:nvSpPr>
        <p:spPr>
          <a:xfrm>
            <a:off x="1600200" y="4069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Process management</a:t>
            </a:r>
            <a:endParaRPr lang="en-US" sz="1800" dirty="0"/>
          </a:p>
        </p:txBody>
      </p:sp>
      <p:sp>
        <p:nvSpPr>
          <p:cNvPr id="22" name="outcome text 4"/>
          <p:cNvSpPr txBox="1"/>
          <p:nvPr/>
        </p:nvSpPr>
        <p:spPr>
          <a:xfrm>
            <a:off x="822960" y="4846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Understood PIDs, CPU time, resident memory and signals.</a:t>
            </a:r>
            <a:endParaRPr lang="en-US" sz="1400" dirty="0"/>
          </a:p>
        </p:txBody>
      </p:sp>
      <p:sp>
        <p:nvSpPr>
          <p:cNvPr id="23" name="outcome card 5"/>
          <p:cNvSpPr/>
          <p:nvPr/>
        </p:nvSpPr>
        <p:spPr>
          <a:xfrm>
            <a:off x="4311396" y="379476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Incremental design circle"/>
          <p:cNvSpPr/>
          <p:nvPr/>
        </p:nvSpPr>
        <p:spPr>
          <a:xfrm>
            <a:off x="4585716" y="4069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ncremental design icon" descr="Incremental desig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362" y="4211726"/>
            <a:ext cx="309067" cy="309067"/>
          </a:xfrm>
          <a:prstGeom prst="rect">
            <a:avLst/>
          </a:prstGeom>
        </p:spPr>
      </p:pic>
      <p:sp>
        <p:nvSpPr>
          <p:cNvPr id="26" name="outcome head 5"/>
          <p:cNvSpPr txBox="1"/>
          <p:nvPr/>
        </p:nvSpPr>
        <p:spPr>
          <a:xfrm>
            <a:off x="5362956" y="4069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Incremental design</a:t>
            </a:r>
            <a:endParaRPr lang="en-US" sz="1800" dirty="0"/>
          </a:p>
        </p:txBody>
      </p:sp>
      <p:sp>
        <p:nvSpPr>
          <p:cNvPr id="27" name="outcome text 5"/>
          <p:cNvSpPr txBox="1"/>
          <p:nvPr/>
        </p:nvSpPr>
        <p:spPr>
          <a:xfrm>
            <a:off x="4585716" y="4846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Built the tool in 5 stages, testing each before the next.</a:t>
            </a:r>
            <a:endParaRPr lang="en-US" sz="1400" dirty="0"/>
          </a:p>
        </p:txBody>
      </p:sp>
      <p:sp>
        <p:nvSpPr>
          <p:cNvPr id="28" name="outcome card 6"/>
          <p:cNvSpPr/>
          <p:nvPr/>
        </p:nvSpPr>
        <p:spPr>
          <a:xfrm>
            <a:off x="8074152" y="379476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9" name="Terminal tooling circle"/>
          <p:cNvSpPr/>
          <p:nvPr/>
        </p:nvSpPr>
        <p:spPr>
          <a:xfrm>
            <a:off x="8348472" y="4069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Terminal tooling icon" descr="Terminal tool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1118" y="4211726"/>
            <a:ext cx="309067" cy="309067"/>
          </a:xfrm>
          <a:prstGeom prst="rect">
            <a:avLst/>
          </a:prstGeom>
        </p:spPr>
      </p:pic>
      <p:sp>
        <p:nvSpPr>
          <p:cNvPr id="31" name="outcome head 6"/>
          <p:cNvSpPr txBox="1"/>
          <p:nvPr/>
        </p:nvSpPr>
        <p:spPr>
          <a:xfrm>
            <a:off x="9125712" y="4069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Terminal tooling</a:t>
            </a:r>
            <a:endParaRPr lang="en-US" sz="1800" dirty="0"/>
          </a:p>
        </p:txBody>
      </p:sp>
      <p:sp>
        <p:nvSpPr>
          <p:cNvPr id="32" name="outcome text 6"/>
          <p:cNvSpPr txBox="1"/>
          <p:nvPr/>
        </p:nvSpPr>
        <p:spPr>
          <a:xfrm>
            <a:off x="8348472" y="4846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Created an interactive, auto-refreshing CLI on Ubuntu.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 &amp; Future Scope</a:t>
            </a:r>
            <a:endParaRPr lang="en-US" sz="3600" dirty="0"/>
          </a:p>
        </p:txBody>
      </p:sp>
      <p:sp>
        <p:nvSpPr>
          <p:cNvPr id="3" name="conclusion header"/>
          <p:cNvSpPr txBox="1"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4" name="conclusion 1 circle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onclusion 1 icon" descr="conclusi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132381"/>
            <a:ext cx="261518" cy="261518"/>
          </a:xfrm>
          <a:prstGeom prst="rect">
            <a:avLst/>
          </a:prstGeom>
        </p:spPr>
      </p:pic>
      <p:sp>
        <p:nvSpPr>
          <p:cNvPr id="6" name="conclusion text 1"/>
          <p:cNvSpPr txBox="1"/>
          <p:nvPr/>
        </p:nvSpPr>
        <p:spPr>
          <a:xfrm>
            <a:off x="1280160" y="19202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Built a working Linux monitor in C++17 covering memory, CPU and processes</a:t>
            </a:r>
            <a:endParaRPr lang="en-US" sz="1600" dirty="0"/>
          </a:p>
        </p:txBody>
      </p:sp>
      <p:sp>
        <p:nvSpPr>
          <p:cNvPr id="7" name="conclusion 2 circle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conclusion 2 icon" descr="conclusi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229661"/>
            <a:ext cx="261518" cy="261518"/>
          </a:xfrm>
          <a:prstGeom prst="rect">
            <a:avLst/>
          </a:prstGeom>
        </p:spPr>
      </p:pic>
      <p:sp>
        <p:nvSpPr>
          <p:cNvPr id="9" name="conclusion text 2"/>
          <p:cNvSpPr txBox="1"/>
          <p:nvPr/>
        </p:nvSpPr>
        <p:spPr>
          <a:xfrm>
            <a:off x="1280160" y="3017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Reads live data from the /proc filesystem and system calls</a:t>
            </a:r>
            <a:endParaRPr lang="en-US" sz="1600" dirty="0"/>
          </a:p>
        </p:txBody>
      </p:sp>
      <p:sp>
        <p:nvSpPr>
          <p:cNvPr id="10" name="conclusion 3 circle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nclusion 3 icon" descr="conclusi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326941"/>
            <a:ext cx="261518" cy="261518"/>
          </a:xfrm>
          <a:prstGeom prst="rect">
            <a:avLst/>
          </a:prstGeom>
        </p:spPr>
      </p:pic>
      <p:sp>
        <p:nvSpPr>
          <p:cNvPr id="12" name="conclusion text 3"/>
          <p:cNvSpPr txBox="1"/>
          <p:nvPr/>
        </p:nvSpPr>
        <p:spPr>
          <a:xfrm>
            <a:off x="1280160" y="4114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Ranks processes and terminates any chosen PID in real time</a:t>
            </a:r>
            <a:endParaRPr lang="en-US" sz="1600" dirty="0"/>
          </a:p>
        </p:txBody>
      </p:sp>
      <p:sp>
        <p:nvSpPr>
          <p:cNvPr id="13" name="future header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14" name="future card 1"/>
          <p:cNvSpPr/>
          <p:nvPr/>
        </p:nvSpPr>
        <p:spPr>
          <a:xfrm>
            <a:off x="6400800" y="2011680"/>
            <a:ext cx="5239512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15" name="future 1 circle"/>
          <p:cNvSpPr/>
          <p:nvPr/>
        </p:nvSpPr>
        <p:spPr>
          <a:xfrm>
            <a:off x="6510528" y="20756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uture 1 icon" descr="future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478" y="2176638"/>
            <a:ext cx="218724" cy="218724"/>
          </a:xfrm>
          <a:prstGeom prst="rect">
            <a:avLst/>
          </a:prstGeom>
        </p:spPr>
      </p:pic>
      <p:sp>
        <p:nvSpPr>
          <p:cNvPr id="17" name="future text 1"/>
          <p:cNvSpPr txBox="1"/>
          <p:nvPr/>
        </p:nvSpPr>
        <p:spPr>
          <a:xfrm>
            <a:off x="7086600" y="2011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Usage graphs and history</a:t>
            </a:r>
            <a:endParaRPr lang="en-US" sz="1500" dirty="0"/>
          </a:p>
        </p:txBody>
      </p:sp>
      <p:sp>
        <p:nvSpPr>
          <p:cNvPr id="18" name="future card 2"/>
          <p:cNvSpPr/>
          <p:nvPr/>
        </p:nvSpPr>
        <p:spPr>
          <a:xfrm>
            <a:off x="6400800" y="2670048"/>
            <a:ext cx="5239512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19" name="future 2 circle"/>
          <p:cNvSpPr/>
          <p:nvPr/>
        </p:nvSpPr>
        <p:spPr>
          <a:xfrm>
            <a:off x="6510528" y="27340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uture 2 icon" descr="future 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478" y="2835006"/>
            <a:ext cx="218724" cy="218724"/>
          </a:xfrm>
          <a:prstGeom prst="rect">
            <a:avLst/>
          </a:prstGeom>
        </p:spPr>
      </p:pic>
      <p:sp>
        <p:nvSpPr>
          <p:cNvPr id="21" name="future text 2"/>
          <p:cNvSpPr txBox="1"/>
          <p:nvPr/>
        </p:nvSpPr>
        <p:spPr>
          <a:xfrm>
            <a:off x="7086600" y="26700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ncurses-based interactive UI</a:t>
            </a:r>
            <a:endParaRPr lang="en-US" sz="1500" dirty="0"/>
          </a:p>
        </p:txBody>
      </p:sp>
      <p:sp>
        <p:nvSpPr>
          <p:cNvPr id="22" name="future card 3"/>
          <p:cNvSpPr/>
          <p:nvPr/>
        </p:nvSpPr>
        <p:spPr>
          <a:xfrm>
            <a:off x="6400800" y="3328416"/>
            <a:ext cx="5239512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23" name="future 3 circle"/>
          <p:cNvSpPr/>
          <p:nvPr/>
        </p:nvSpPr>
        <p:spPr>
          <a:xfrm>
            <a:off x="6510528" y="33924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future 3 icon" descr="future 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478" y="3493374"/>
            <a:ext cx="218724" cy="218724"/>
          </a:xfrm>
          <a:prstGeom prst="rect">
            <a:avLst/>
          </a:prstGeom>
        </p:spPr>
      </p:pic>
      <p:sp>
        <p:nvSpPr>
          <p:cNvPr id="25" name="future text 3"/>
          <p:cNvSpPr txBox="1"/>
          <p:nvPr/>
        </p:nvSpPr>
        <p:spPr>
          <a:xfrm>
            <a:off x="7086600" y="332841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Try SIGTERM first, then SIGKILL</a:t>
            </a:r>
            <a:endParaRPr lang="en-US" sz="1500" dirty="0"/>
          </a:p>
        </p:txBody>
      </p:sp>
      <p:sp>
        <p:nvSpPr>
          <p:cNvPr id="26" name="future card 4"/>
          <p:cNvSpPr/>
          <p:nvPr/>
        </p:nvSpPr>
        <p:spPr>
          <a:xfrm>
            <a:off x="6400800" y="3986784"/>
            <a:ext cx="5239512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27" name="future 4 circle"/>
          <p:cNvSpPr/>
          <p:nvPr/>
        </p:nvSpPr>
        <p:spPr>
          <a:xfrm>
            <a:off x="6510528" y="405079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future 4 icon" descr="future 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478" y="4151742"/>
            <a:ext cx="218724" cy="218724"/>
          </a:xfrm>
          <a:prstGeom prst="rect">
            <a:avLst/>
          </a:prstGeom>
        </p:spPr>
      </p:pic>
      <p:sp>
        <p:nvSpPr>
          <p:cNvPr id="29" name="future text 4"/>
          <p:cNvSpPr txBox="1"/>
          <p:nvPr/>
        </p:nvSpPr>
        <p:spPr>
          <a:xfrm>
            <a:off x="7086600" y="39867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Search and filter by name or user</a:t>
            </a:r>
            <a:endParaRPr lang="en-US" sz="1500" dirty="0"/>
          </a:p>
        </p:txBody>
      </p:sp>
      <p:sp>
        <p:nvSpPr>
          <p:cNvPr id="30" name="future card 5"/>
          <p:cNvSpPr/>
          <p:nvPr/>
        </p:nvSpPr>
        <p:spPr>
          <a:xfrm>
            <a:off x="6400800" y="4645152"/>
            <a:ext cx="5239512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31" name="future 5 circle"/>
          <p:cNvSpPr/>
          <p:nvPr/>
        </p:nvSpPr>
        <p:spPr>
          <a:xfrm>
            <a:off x="6510528" y="4709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future 5 icon" descr="future 5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478" y="4810110"/>
            <a:ext cx="218724" cy="218724"/>
          </a:xfrm>
          <a:prstGeom prst="rect">
            <a:avLst/>
          </a:prstGeom>
        </p:spPr>
      </p:pic>
      <p:sp>
        <p:nvSpPr>
          <p:cNvPr id="33" name="future text 5"/>
          <p:cNvSpPr txBox="1"/>
          <p:nvPr/>
        </p:nvSpPr>
        <p:spPr>
          <a:xfrm>
            <a:off x="7086600" y="46451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Disk and network monitoring</a:t>
            </a:r>
            <a:endParaRPr lang="en-US" sz="1500" dirty="0"/>
          </a:p>
        </p:txBody>
      </p:sp>
      <p:sp>
        <p:nvSpPr>
          <p:cNvPr id="34" name="thank you card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</p:spPr>
      </p:sp>
      <p:sp>
        <p:nvSpPr>
          <p:cNvPr id="35" name="thank you text"/>
          <p:cNvSpPr txBox="1"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Thank you  |  Questions?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Ipsita Behera  •  2341002106  •  Computer Science and Engineering  •  Wipro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Purple">
  <a:themeElements>
    <a:clrScheme name="NavyPurple">
      <a:dk1>
        <a:srgbClr val="0F1535"/>
      </a:dk1>
      <a:lt1>
        <a:srgbClr val="FFFFFF"/>
      </a:lt1>
      <a:dk2>
        <a:srgbClr val="2A1B5E"/>
      </a:dk2>
      <a:lt2>
        <a:srgbClr val="F3F0FC"/>
      </a:lt2>
      <a:accent1>
        <a:srgbClr val="6D3FD6"/>
      </a:accent1>
      <a:accent2>
        <a:srgbClr val="9B7BEA"/>
      </a:accent2>
      <a:accent3>
        <a:srgbClr val="22D3EE"/>
      </a:accent3>
      <a:accent4>
        <a:srgbClr val="CDBFF5"/>
      </a:accent4>
      <a:accent5>
        <a:srgbClr val="1B2358"/>
      </a:accent5>
      <a:accent6>
        <a:srgbClr val="F5A524"/>
      </a:accent6>
      <a:hlink>
        <a:srgbClr val="6D3FD6"/>
      </a:hlink>
      <a:folHlink>
        <a:srgbClr val="9B7BEA"/>
      </a:folHlink>
    </a:clrScheme>
    <a:fontScheme name="NavyPurpl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&amp; Process Monitoring Tool using C++ on Ubuntu</dc:title>
  <dc:subject>Wipro Training Project</dc:subject>
  <dc:creator>Ipsita Behera</dc:creator>
  <cp:lastModifiedBy>Ipsita Behera</cp:lastModifiedBy>
  <cp:revision>1</cp:revision>
  <dcterms:created xsi:type="dcterms:W3CDTF">2026-10-04T15:37:32Z</dcterms:created>
  <dcterms:modified xsi:type="dcterms:W3CDTF">2026-10-04T15:37:32Z</dcterms:modified>
</cp:coreProperties>
</file>